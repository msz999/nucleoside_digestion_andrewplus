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0" r:id="rId3"/>
    <p:sldId id="281" r:id="rId4"/>
    <p:sldId id="272" r:id="rId5"/>
    <p:sldId id="277" r:id="rId6"/>
    <p:sldId id="273" r:id="rId7"/>
    <p:sldId id="274" r:id="rId8"/>
    <p:sldId id="276" r:id="rId9"/>
    <p:sldId id="282" r:id="rId10"/>
    <p:sldId id="283" r:id="rId11"/>
    <p:sldId id="278" r:id="rId12"/>
    <p:sldId id="280" r:id="rId13"/>
    <p:sldId id="279" r:id="rId14"/>
    <p:sldId id="284"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8"/>
    <p:restoredTop sz="94792"/>
  </p:normalViewPr>
  <p:slideViewPr>
    <p:cSldViewPr snapToGrid="0">
      <p:cViewPr>
        <p:scale>
          <a:sx n="124" d="100"/>
          <a:sy n="124" d="100"/>
        </p:scale>
        <p:origin x="192"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6A08EA-4F48-CA42-B309-D1FC71B71CDB}" type="datetimeFigureOut">
              <a:rPr lang="en-US" smtClean="0"/>
              <a:t>10/8/26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53F1E1-A9B4-3F42-A38E-23F25A2191FD}" type="slidenum">
              <a:rPr lang="en-US" smtClean="0"/>
              <a:t>‹#›</a:t>
            </a:fld>
            <a:endParaRPr lang="en-US"/>
          </a:p>
        </p:txBody>
      </p:sp>
    </p:spTree>
    <p:extLst>
      <p:ext uri="{BB962C8B-B14F-4D97-AF65-F5344CB8AC3E}">
        <p14:creationId xmlns:p14="http://schemas.microsoft.com/office/powerpoint/2010/main" val="978121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53F1E1-A9B4-3F42-A38E-23F25A2191FD}" type="slidenum">
              <a:rPr lang="en-US" smtClean="0"/>
              <a:t>4</a:t>
            </a:fld>
            <a:endParaRPr lang="en-US"/>
          </a:p>
        </p:txBody>
      </p:sp>
    </p:spTree>
    <p:extLst>
      <p:ext uri="{BB962C8B-B14F-4D97-AF65-F5344CB8AC3E}">
        <p14:creationId xmlns:p14="http://schemas.microsoft.com/office/powerpoint/2010/main" val="172197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6CB85-F0F2-609F-C24D-53A9D1644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8F7342-557B-13C8-3626-9199E0BA8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83D05-EDC8-204E-4DAB-2796785797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93D6B9-B83E-35CE-7D8F-EF1E9B99B683}"/>
              </a:ext>
            </a:extLst>
          </p:cNvPr>
          <p:cNvSpPr>
            <a:spLocks noGrp="1"/>
          </p:cNvSpPr>
          <p:nvPr>
            <p:ph type="sldNum" sz="quarter" idx="5"/>
          </p:nvPr>
        </p:nvSpPr>
        <p:spPr/>
        <p:txBody>
          <a:bodyPr/>
          <a:lstStyle/>
          <a:p>
            <a:fld id="{2853F1E1-A9B4-3F42-A38E-23F25A2191FD}" type="slidenum">
              <a:rPr lang="en-US" smtClean="0"/>
              <a:t>5</a:t>
            </a:fld>
            <a:endParaRPr lang="en-US"/>
          </a:p>
        </p:txBody>
      </p:sp>
    </p:spTree>
    <p:extLst>
      <p:ext uri="{BB962C8B-B14F-4D97-AF65-F5344CB8AC3E}">
        <p14:creationId xmlns:p14="http://schemas.microsoft.com/office/powerpoint/2010/main" val="1217521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E2DB1-47DA-D35C-976B-20320EC9E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3F9BA-8923-E474-7115-D56538A00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EDE257-66A8-150C-F83B-84E5CD4482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039243-4430-EF3E-5516-EABE9512670F}"/>
              </a:ext>
            </a:extLst>
          </p:cNvPr>
          <p:cNvSpPr>
            <a:spLocks noGrp="1"/>
          </p:cNvSpPr>
          <p:nvPr>
            <p:ph type="sldNum" sz="quarter" idx="5"/>
          </p:nvPr>
        </p:nvSpPr>
        <p:spPr/>
        <p:txBody>
          <a:bodyPr/>
          <a:lstStyle/>
          <a:p>
            <a:fld id="{2853F1E1-A9B4-3F42-A38E-23F25A2191FD}" type="slidenum">
              <a:rPr lang="en-US" smtClean="0"/>
              <a:t>6</a:t>
            </a:fld>
            <a:endParaRPr lang="en-US"/>
          </a:p>
        </p:txBody>
      </p:sp>
    </p:spTree>
    <p:extLst>
      <p:ext uri="{BB962C8B-B14F-4D97-AF65-F5344CB8AC3E}">
        <p14:creationId xmlns:p14="http://schemas.microsoft.com/office/powerpoint/2010/main" val="4245125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024BA-7470-EC0A-D92E-092875AF7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66E754-C098-AC26-9D88-15BA10E6E8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5868FB-F458-2823-8C66-D1E017BC5E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E87A56-5BBB-E27D-BC3B-C116F3126ECB}"/>
              </a:ext>
            </a:extLst>
          </p:cNvPr>
          <p:cNvSpPr>
            <a:spLocks noGrp="1"/>
          </p:cNvSpPr>
          <p:nvPr>
            <p:ph type="sldNum" sz="quarter" idx="5"/>
          </p:nvPr>
        </p:nvSpPr>
        <p:spPr/>
        <p:txBody>
          <a:bodyPr/>
          <a:lstStyle/>
          <a:p>
            <a:fld id="{2853F1E1-A9B4-3F42-A38E-23F25A2191FD}" type="slidenum">
              <a:rPr lang="en-US" smtClean="0"/>
              <a:t>7</a:t>
            </a:fld>
            <a:endParaRPr lang="en-US"/>
          </a:p>
        </p:txBody>
      </p:sp>
    </p:spTree>
    <p:extLst>
      <p:ext uri="{BB962C8B-B14F-4D97-AF65-F5344CB8AC3E}">
        <p14:creationId xmlns:p14="http://schemas.microsoft.com/office/powerpoint/2010/main" val="3356995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66D43-D6FB-3115-E789-FE99B9BCAA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C205C-6DCA-755C-27A9-971038D44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249305-3AEF-F212-99D3-CD6B0FFFDD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E88175-E0EC-6AE2-7A37-0BA0D0DD08D6}"/>
              </a:ext>
            </a:extLst>
          </p:cNvPr>
          <p:cNvSpPr>
            <a:spLocks noGrp="1"/>
          </p:cNvSpPr>
          <p:nvPr>
            <p:ph type="sldNum" sz="quarter" idx="5"/>
          </p:nvPr>
        </p:nvSpPr>
        <p:spPr/>
        <p:txBody>
          <a:bodyPr/>
          <a:lstStyle/>
          <a:p>
            <a:fld id="{2853F1E1-A9B4-3F42-A38E-23F25A2191FD}" type="slidenum">
              <a:rPr lang="en-US" smtClean="0"/>
              <a:t>8</a:t>
            </a:fld>
            <a:endParaRPr lang="en-US"/>
          </a:p>
        </p:txBody>
      </p:sp>
    </p:spTree>
    <p:extLst>
      <p:ext uri="{BB962C8B-B14F-4D97-AF65-F5344CB8AC3E}">
        <p14:creationId xmlns:p14="http://schemas.microsoft.com/office/powerpoint/2010/main" val="1286409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4AB0C-5996-37E1-1052-9B569D5C9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48651-4F69-4148-FDAF-C5FD01645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69B87-AD8D-21BC-E2EC-2D5343DF2A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6726C-F8A7-6054-0BBC-349A8DFC4794}"/>
              </a:ext>
            </a:extLst>
          </p:cNvPr>
          <p:cNvSpPr>
            <a:spLocks noGrp="1"/>
          </p:cNvSpPr>
          <p:nvPr>
            <p:ph type="sldNum" sz="quarter" idx="5"/>
          </p:nvPr>
        </p:nvSpPr>
        <p:spPr/>
        <p:txBody>
          <a:bodyPr/>
          <a:lstStyle/>
          <a:p>
            <a:fld id="{2853F1E1-A9B4-3F42-A38E-23F25A2191FD}" type="slidenum">
              <a:rPr lang="en-US" smtClean="0"/>
              <a:t>9</a:t>
            </a:fld>
            <a:endParaRPr lang="en-US"/>
          </a:p>
        </p:txBody>
      </p:sp>
    </p:spTree>
    <p:extLst>
      <p:ext uri="{BB962C8B-B14F-4D97-AF65-F5344CB8AC3E}">
        <p14:creationId xmlns:p14="http://schemas.microsoft.com/office/powerpoint/2010/main" val="579344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71072-8E35-A21D-CC02-9C49B9653E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E4B1BC-6859-E673-291A-AAE0EDAA2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999C5-F51B-7998-1ADF-11F23FDDAA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5FCA78-9913-CD67-3C4E-81176C4F97C5}"/>
              </a:ext>
            </a:extLst>
          </p:cNvPr>
          <p:cNvSpPr>
            <a:spLocks noGrp="1"/>
          </p:cNvSpPr>
          <p:nvPr>
            <p:ph type="sldNum" sz="quarter" idx="5"/>
          </p:nvPr>
        </p:nvSpPr>
        <p:spPr/>
        <p:txBody>
          <a:bodyPr/>
          <a:lstStyle/>
          <a:p>
            <a:fld id="{2853F1E1-A9B4-3F42-A38E-23F25A2191FD}" type="slidenum">
              <a:rPr lang="en-US" smtClean="0"/>
              <a:t>14</a:t>
            </a:fld>
            <a:endParaRPr lang="en-US"/>
          </a:p>
        </p:txBody>
      </p:sp>
    </p:spTree>
    <p:extLst>
      <p:ext uri="{BB962C8B-B14F-4D97-AF65-F5344CB8AC3E}">
        <p14:creationId xmlns:p14="http://schemas.microsoft.com/office/powerpoint/2010/main" val="3268559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3021-E61E-9237-9372-E29E4FC056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E4BEB1-97C1-63AE-61BD-D0D569824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625AA5-982A-1A66-2E98-F6FB0C7C643D}"/>
              </a:ext>
            </a:extLst>
          </p:cNvPr>
          <p:cNvSpPr>
            <a:spLocks noGrp="1"/>
          </p:cNvSpPr>
          <p:nvPr>
            <p:ph type="dt" sz="half" idx="10"/>
          </p:nvPr>
        </p:nvSpPr>
        <p:spPr/>
        <p:txBody>
          <a:bodyPr/>
          <a:lstStyle/>
          <a:p>
            <a:fld id="{35BEBC1E-9777-9242-8610-B51F4DCFE5A3}" type="datetimeFigureOut">
              <a:rPr lang="en-US" smtClean="0"/>
              <a:t>10/8/26</a:t>
            </a:fld>
            <a:endParaRPr lang="en-US"/>
          </a:p>
        </p:txBody>
      </p:sp>
      <p:sp>
        <p:nvSpPr>
          <p:cNvPr id="5" name="Footer Placeholder 4">
            <a:extLst>
              <a:ext uri="{FF2B5EF4-FFF2-40B4-BE49-F238E27FC236}">
                <a16:creationId xmlns:a16="http://schemas.microsoft.com/office/drawing/2014/main" id="{CC6C710E-0E43-45EB-CF1E-12AFF842CD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20A0BB-01B3-3FBD-1B3D-D8FE190F9C5C}"/>
              </a:ext>
            </a:extLst>
          </p:cNvPr>
          <p:cNvSpPr>
            <a:spLocks noGrp="1"/>
          </p:cNvSpPr>
          <p:nvPr>
            <p:ph type="sldNum" sz="quarter" idx="12"/>
          </p:nvPr>
        </p:nvSpPr>
        <p:spPr/>
        <p:txBody>
          <a:bodyPr/>
          <a:lstStyle/>
          <a:p>
            <a:fld id="{88514028-E3F7-6E43-A40E-6F68FB9D24B1}" type="slidenum">
              <a:rPr lang="en-US" smtClean="0"/>
              <a:t>‹#›</a:t>
            </a:fld>
            <a:endParaRPr lang="en-US"/>
          </a:p>
        </p:txBody>
      </p:sp>
    </p:spTree>
    <p:extLst>
      <p:ext uri="{BB962C8B-B14F-4D97-AF65-F5344CB8AC3E}">
        <p14:creationId xmlns:p14="http://schemas.microsoft.com/office/powerpoint/2010/main" val="3544231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BBABB-91FD-56D8-5410-E8DF155E02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A39510-ECB4-CEC7-5ADF-964C97B98A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7E8B87-CCA5-6141-FEE1-F5D308138420}"/>
              </a:ext>
            </a:extLst>
          </p:cNvPr>
          <p:cNvSpPr>
            <a:spLocks noGrp="1"/>
          </p:cNvSpPr>
          <p:nvPr>
            <p:ph type="dt" sz="half" idx="10"/>
          </p:nvPr>
        </p:nvSpPr>
        <p:spPr/>
        <p:txBody>
          <a:bodyPr/>
          <a:lstStyle/>
          <a:p>
            <a:fld id="{35BEBC1E-9777-9242-8610-B51F4DCFE5A3}" type="datetimeFigureOut">
              <a:rPr lang="en-US" smtClean="0"/>
              <a:t>10/8/26</a:t>
            </a:fld>
            <a:endParaRPr lang="en-US"/>
          </a:p>
        </p:txBody>
      </p:sp>
      <p:sp>
        <p:nvSpPr>
          <p:cNvPr id="5" name="Footer Placeholder 4">
            <a:extLst>
              <a:ext uri="{FF2B5EF4-FFF2-40B4-BE49-F238E27FC236}">
                <a16:creationId xmlns:a16="http://schemas.microsoft.com/office/drawing/2014/main" id="{A6528D5A-CBDB-5522-DA4F-5F3A694D35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5608D-4AB9-3544-8238-2E70BA0384E7}"/>
              </a:ext>
            </a:extLst>
          </p:cNvPr>
          <p:cNvSpPr>
            <a:spLocks noGrp="1"/>
          </p:cNvSpPr>
          <p:nvPr>
            <p:ph type="sldNum" sz="quarter" idx="12"/>
          </p:nvPr>
        </p:nvSpPr>
        <p:spPr/>
        <p:txBody>
          <a:bodyPr/>
          <a:lstStyle/>
          <a:p>
            <a:fld id="{88514028-E3F7-6E43-A40E-6F68FB9D24B1}" type="slidenum">
              <a:rPr lang="en-US" smtClean="0"/>
              <a:t>‹#›</a:t>
            </a:fld>
            <a:endParaRPr lang="en-US"/>
          </a:p>
        </p:txBody>
      </p:sp>
    </p:spTree>
    <p:extLst>
      <p:ext uri="{BB962C8B-B14F-4D97-AF65-F5344CB8AC3E}">
        <p14:creationId xmlns:p14="http://schemas.microsoft.com/office/powerpoint/2010/main" val="2007601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194F1-C3B3-9009-877D-1D728621A7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812682-A782-4A1D-ABB6-6C6411A2C1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2DEE63-CFFB-1730-FC04-1062319521EF}"/>
              </a:ext>
            </a:extLst>
          </p:cNvPr>
          <p:cNvSpPr>
            <a:spLocks noGrp="1"/>
          </p:cNvSpPr>
          <p:nvPr>
            <p:ph type="dt" sz="half" idx="10"/>
          </p:nvPr>
        </p:nvSpPr>
        <p:spPr/>
        <p:txBody>
          <a:bodyPr/>
          <a:lstStyle/>
          <a:p>
            <a:fld id="{35BEBC1E-9777-9242-8610-B51F4DCFE5A3}" type="datetimeFigureOut">
              <a:rPr lang="en-US" smtClean="0"/>
              <a:t>10/8/26</a:t>
            </a:fld>
            <a:endParaRPr lang="en-US"/>
          </a:p>
        </p:txBody>
      </p:sp>
      <p:sp>
        <p:nvSpPr>
          <p:cNvPr id="5" name="Footer Placeholder 4">
            <a:extLst>
              <a:ext uri="{FF2B5EF4-FFF2-40B4-BE49-F238E27FC236}">
                <a16:creationId xmlns:a16="http://schemas.microsoft.com/office/drawing/2014/main" id="{FA612BE0-69A4-B87F-38D9-D2FAB7610F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E0C634-0D4E-E07A-BFDE-63ABCC8EB7ED}"/>
              </a:ext>
            </a:extLst>
          </p:cNvPr>
          <p:cNvSpPr>
            <a:spLocks noGrp="1"/>
          </p:cNvSpPr>
          <p:nvPr>
            <p:ph type="sldNum" sz="quarter" idx="12"/>
          </p:nvPr>
        </p:nvSpPr>
        <p:spPr/>
        <p:txBody>
          <a:bodyPr/>
          <a:lstStyle/>
          <a:p>
            <a:fld id="{88514028-E3F7-6E43-A40E-6F68FB9D24B1}" type="slidenum">
              <a:rPr lang="en-US" smtClean="0"/>
              <a:t>‹#›</a:t>
            </a:fld>
            <a:endParaRPr lang="en-US"/>
          </a:p>
        </p:txBody>
      </p:sp>
    </p:spTree>
    <p:extLst>
      <p:ext uri="{BB962C8B-B14F-4D97-AF65-F5344CB8AC3E}">
        <p14:creationId xmlns:p14="http://schemas.microsoft.com/office/powerpoint/2010/main" val="971476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34AD1-8688-4328-9CA9-C218591DB7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7DF602-43B6-1B8E-4599-EDDB068554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E8363C-65DF-FD2A-53EA-9249693F80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A6F27E-33C2-BC83-948D-936673A510F6}"/>
              </a:ext>
            </a:extLst>
          </p:cNvPr>
          <p:cNvSpPr>
            <a:spLocks noGrp="1"/>
          </p:cNvSpPr>
          <p:nvPr>
            <p:ph type="dt" sz="half" idx="10"/>
          </p:nvPr>
        </p:nvSpPr>
        <p:spPr/>
        <p:txBody>
          <a:bodyPr/>
          <a:lstStyle/>
          <a:p>
            <a:fld id="{35BEBC1E-9777-9242-8610-B51F4DCFE5A3}" type="datetimeFigureOut">
              <a:rPr lang="en-US" smtClean="0"/>
              <a:t>10/8/26</a:t>
            </a:fld>
            <a:endParaRPr lang="en-US"/>
          </a:p>
        </p:txBody>
      </p:sp>
      <p:sp>
        <p:nvSpPr>
          <p:cNvPr id="6" name="Footer Placeholder 5">
            <a:extLst>
              <a:ext uri="{FF2B5EF4-FFF2-40B4-BE49-F238E27FC236}">
                <a16:creationId xmlns:a16="http://schemas.microsoft.com/office/drawing/2014/main" id="{0937E465-140F-7D65-17DA-689DEA99F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3782B4-B060-B77A-9029-EB1428D9227F}"/>
              </a:ext>
            </a:extLst>
          </p:cNvPr>
          <p:cNvSpPr>
            <a:spLocks noGrp="1"/>
          </p:cNvSpPr>
          <p:nvPr>
            <p:ph type="sldNum" sz="quarter" idx="12"/>
          </p:nvPr>
        </p:nvSpPr>
        <p:spPr/>
        <p:txBody>
          <a:bodyPr/>
          <a:lstStyle/>
          <a:p>
            <a:fld id="{88514028-E3F7-6E43-A40E-6F68FB9D24B1}" type="slidenum">
              <a:rPr lang="en-US" smtClean="0"/>
              <a:t>‹#›</a:t>
            </a:fld>
            <a:endParaRPr lang="en-US"/>
          </a:p>
        </p:txBody>
      </p:sp>
    </p:spTree>
    <p:extLst>
      <p:ext uri="{BB962C8B-B14F-4D97-AF65-F5344CB8AC3E}">
        <p14:creationId xmlns:p14="http://schemas.microsoft.com/office/powerpoint/2010/main" val="1739607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F726B-3FF4-A270-6BD4-CA13F1C417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8699F3-FAED-C401-0548-27BB20D456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1D9491-0842-97FC-4E75-440C71391D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1B17B9-79D7-8EC8-BA23-C92230F634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9A7564-42C7-0601-C8AA-18612C4F89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DCBF5B-DCFA-6547-019D-43B4F8D931C5}"/>
              </a:ext>
            </a:extLst>
          </p:cNvPr>
          <p:cNvSpPr>
            <a:spLocks noGrp="1"/>
          </p:cNvSpPr>
          <p:nvPr>
            <p:ph type="dt" sz="half" idx="10"/>
          </p:nvPr>
        </p:nvSpPr>
        <p:spPr/>
        <p:txBody>
          <a:bodyPr/>
          <a:lstStyle/>
          <a:p>
            <a:fld id="{35BEBC1E-9777-9242-8610-B51F4DCFE5A3}" type="datetimeFigureOut">
              <a:rPr lang="en-US" smtClean="0"/>
              <a:t>10/8/26</a:t>
            </a:fld>
            <a:endParaRPr lang="en-US"/>
          </a:p>
        </p:txBody>
      </p:sp>
      <p:sp>
        <p:nvSpPr>
          <p:cNvPr id="8" name="Footer Placeholder 7">
            <a:extLst>
              <a:ext uri="{FF2B5EF4-FFF2-40B4-BE49-F238E27FC236}">
                <a16:creationId xmlns:a16="http://schemas.microsoft.com/office/drawing/2014/main" id="{9E4D78C0-DEDA-2C3A-4445-96065B8A9E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9486F8-6C99-4955-9B4A-724A906F29DD}"/>
              </a:ext>
            </a:extLst>
          </p:cNvPr>
          <p:cNvSpPr>
            <a:spLocks noGrp="1"/>
          </p:cNvSpPr>
          <p:nvPr>
            <p:ph type="sldNum" sz="quarter" idx="12"/>
          </p:nvPr>
        </p:nvSpPr>
        <p:spPr/>
        <p:txBody>
          <a:bodyPr/>
          <a:lstStyle/>
          <a:p>
            <a:fld id="{88514028-E3F7-6E43-A40E-6F68FB9D24B1}" type="slidenum">
              <a:rPr lang="en-US" smtClean="0"/>
              <a:t>‹#›</a:t>
            </a:fld>
            <a:endParaRPr lang="en-US"/>
          </a:p>
        </p:txBody>
      </p:sp>
    </p:spTree>
    <p:extLst>
      <p:ext uri="{BB962C8B-B14F-4D97-AF65-F5344CB8AC3E}">
        <p14:creationId xmlns:p14="http://schemas.microsoft.com/office/powerpoint/2010/main" val="1388735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C8AA6-384E-B680-ECAE-30E0C60DBE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1DF41B-D27A-AA03-A86D-144612A574D7}"/>
              </a:ext>
            </a:extLst>
          </p:cNvPr>
          <p:cNvSpPr>
            <a:spLocks noGrp="1"/>
          </p:cNvSpPr>
          <p:nvPr>
            <p:ph type="dt" sz="half" idx="10"/>
          </p:nvPr>
        </p:nvSpPr>
        <p:spPr/>
        <p:txBody>
          <a:bodyPr/>
          <a:lstStyle/>
          <a:p>
            <a:fld id="{35BEBC1E-9777-9242-8610-B51F4DCFE5A3}" type="datetimeFigureOut">
              <a:rPr lang="en-US" smtClean="0"/>
              <a:t>10/8/26</a:t>
            </a:fld>
            <a:endParaRPr lang="en-US"/>
          </a:p>
        </p:txBody>
      </p:sp>
      <p:sp>
        <p:nvSpPr>
          <p:cNvPr id="4" name="Footer Placeholder 3">
            <a:extLst>
              <a:ext uri="{FF2B5EF4-FFF2-40B4-BE49-F238E27FC236}">
                <a16:creationId xmlns:a16="http://schemas.microsoft.com/office/drawing/2014/main" id="{C01639A4-759A-7526-1683-B6FDB2842D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13F6C3-030B-503E-6AA1-DB8DA624942F}"/>
              </a:ext>
            </a:extLst>
          </p:cNvPr>
          <p:cNvSpPr>
            <a:spLocks noGrp="1"/>
          </p:cNvSpPr>
          <p:nvPr>
            <p:ph type="sldNum" sz="quarter" idx="12"/>
          </p:nvPr>
        </p:nvSpPr>
        <p:spPr/>
        <p:txBody>
          <a:bodyPr/>
          <a:lstStyle/>
          <a:p>
            <a:fld id="{88514028-E3F7-6E43-A40E-6F68FB9D24B1}" type="slidenum">
              <a:rPr lang="en-US" smtClean="0"/>
              <a:t>‹#›</a:t>
            </a:fld>
            <a:endParaRPr lang="en-US"/>
          </a:p>
        </p:txBody>
      </p:sp>
    </p:spTree>
    <p:extLst>
      <p:ext uri="{BB962C8B-B14F-4D97-AF65-F5344CB8AC3E}">
        <p14:creationId xmlns:p14="http://schemas.microsoft.com/office/powerpoint/2010/main" val="789227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7C42AF-B549-696A-B535-CC2B642AB890}"/>
              </a:ext>
            </a:extLst>
          </p:cNvPr>
          <p:cNvSpPr>
            <a:spLocks noGrp="1"/>
          </p:cNvSpPr>
          <p:nvPr>
            <p:ph type="dt" sz="half" idx="10"/>
          </p:nvPr>
        </p:nvSpPr>
        <p:spPr/>
        <p:txBody>
          <a:bodyPr/>
          <a:lstStyle/>
          <a:p>
            <a:fld id="{35BEBC1E-9777-9242-8610-B51F4DCFE5A3}" type="datetimeFigureOut">
              <a:rPr lang="en-US" smtClean="0"/>
              <a:t>10/8/26</a:t>
            </a:fld>
            <a:endParaRPr lang="en-US"/>
          </a:p>
        </p:txBody>
      </p:sp>
      <p:sp>
        <p:nvSpPr>
          <p:cNvPr id="3" name="Footer Placeholder 2">
            <a:extLst>
              <a:ext uri="{FF2B5EF4-FFF2-40B4-BE49-F238E27FC236}">
                <a16:creationId xmlns:a16="http://schemas.microsoft.com/office/drawing/2014/main" id="{4E759EB8-BC59-5798-1E6F-3FB36E5843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437DDA-2BE2-4E6D-0DE2-7A13BEA38AC4}"/>
              </a:ext>
            </a:extLst>
          </p:cNvPr>
          <p:cNvSpPr>
            <a:spLocks noGrp="1"/>
          </p:cNvSpPr>
          <p:nvPr>
            <p:ph type="sldNum" sz="quarter" idx="12"/>
          </p:nvPr>
        </p:nvSpPr>
        <p:spPr/>
        <p:txBody>
          <a:bodyPr/>
          <a:lstStyle/>
          <a:p>
            <a:fld id="{88514028-E3F7-6E43-A40E-6F68FB9D24B1}" type="slidenum">
              <a:rPr lang="en-US" smtClean="0"/>
              <a:t>‹#›</a:t>
            </a:fld>
            <a:endParaRPr lang="en-US"/>
          </a:p>
        </p:txBody>
      </p:sp>
    </p:spTree>
    <p:extLst>
      <p:ext uri="{BB962C8B-B14F-4D97-AF65-F5344CB8AC3E}">
        <p14:creationId xmlns:p14="http://schemas.microsoft.com/office/powerpoint/2010/main" val="974351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E5E8-088F-9585-0650-FE788F3E31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71B897-C16A-AC9F-4615-7FB33E8894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AD4997-9EB7-7C86-071E-69007C8D1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EDE6F-1D0B-2F15-B101-E8599CAE85E8}"/>
              </a:ext>
            </a:extLst>
          </p:cNvPr>
          <p:cNvSpPr>
            <a:spLocks noGrp="1"/>
          </p:cNvSpPr>
          <p:nvPr>
            <p:ph type="dt" sz="half" idx="10"/>
          </p:nvPr>
        </p:nvSpPr>
        <p:spPr/>
        <p:txBody>
          <a:bodyPr/>
          <a:lstStyle/>
          <a:p>
            <a:fld id="{35BEBC1E-9777-9242-8610-B51F4DCFE5A3}" type="datetimeFigureOut">
              <a:rPr lang="en-US" smtClean="0"/>
              <a:t>10/8/26</a:t>
            </a:fld>
            <a:endParaRPr lang="en-US"/>
          </a:p>
        </p:txBody>
      </p:sp>
      <p:sp>
        <p:nvSpPr>
          <p:cNvPr id="6" name="Footer Placeholder 5">
            <a:extLst>
              <a:ext uri="{FF2B5EF4-FFF2-40B4-BE49-F238E27FC236}">
                <a16:creationId xmlns:a16="http://schemas.microsoft.com/office/drawing/2014/main" id="{AF99AB25-7D0A-BFA1-C363-A48A7316FE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53587F-7394-DDE9-3BD2-FD3FC272DD64}"/>
              </a:ext>
            </a:extLst>
          </p:cNvPr>
          <p:cNvSpPr>
            <a:spLocks noGrp="1"/>
          </p:cNvSpPr>
          <p:nvPr>
            <p:ph type="sldNum" sz="quarter" idx="12"/>
          </p:nvPr>
        </p:nvSpPr>
        <p:spPr/>
        <p:txBody>
          <a:bodyPr/>
          <a:lstStyle/>
          <a:p>
            <a:fld id="{88514028-E3F7-6E43-A40E-6F68FB9D24B1}" type="slidenum">
              <a:rPr lang="en-US" smtClean="0"/>
              <a:t>‹#›</a:t>
            </a:fld>
            <a:endParaRPr lang="en-US"/>
          </a:p>
        </p:txBody>
      </p:sp>
    </p:spTree>
    <p:extLst>
      <p:ext uri="{BB962C8B-B14F-4D97-AF65-F5344CB8AC3E}">
        <p14:creationId xmlns:p14="http://schemas.microsoft.com/office/powerpoint/2010/main" val="319220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4E9FE-B0F4-E129-709E-C125FFF02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694EDE-0F60-7110-85D4-BA8F3D79D02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EF6567-5632-9E34-A41B-A470B4F87F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E2E190-DC1F-FFBB-CD9B-6E76CD6F6B1E}"/>
              </a:ext>
            </a:extLst>
          </p:cNvPr>
          <p:cNvSpPr>
            <a:spLocks noGrp="1"/>
          </p:cNvSpPr>
          <p:nvPr>
            <p:ph type="dt" sz="half" idx="10"/>
          </p:nvPr>
        </p:nvSpPr>
        <p:spPr/>
        <p:txBody>
          <a:bodyPr/>
          <a:lstStyle/>
          <a:p>
            <a:fld id="{35BEBC1E-9777-9242-8610-B51F4DCFE5A3}" type="datetimeFigureOut">
              <a:rPr lang="en-US" smtClean="0"/>
              <a:t>10/8/26</a:t>
            </a:fld>
            <a:endParaRPr lang="en-US"/>
          </a:p>
        </p:txBody>
      </p:sp>
      <p:sp>
        <p:nvSpPr>
          <p:cNvPr id="6" name="Footer Placeholder 5">
            <a:extLst>
              <a:ext uri="{FF2B5EF4-FFF2-40B4-BE49-F238E27FC236}">
                <a16:creationId xmlns:a16="http://schemas.microsoft.com/office/drawing/2014/main" id="{99E83DAA-BAA9-C3A2-7850-17E5EB3DE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A4B398-4D6C-0CCE-6402-821A3A3A6952}"/>
              </a:ext>
            </a:extLst>
          </p:cNvPr>
          <p:cNvSpPr>
            <a:spLocks noGrp="1"/>
          </p:cNvSpPr>
          <p:nvPr>
            <p:ph type="sldNum" sz="quarter" idx="12"/>
          </p:nvPr>
        </p:nvSpPr>
        <p:spPr/>
        <p:txBody>
          <a:bodyPr/>
          <a:lstStyle/>
          <a:p>
            <a:fld id="{88514028-E3F7-6E43-A40E-6F68FB9D24B1}" type="slidenum">
              <a:rPr lang="en-US" smtClean="0"/>
              <a:t>‹#›</a:t>
            </a:fld>
            <a:endParaRPr lang="en-US"/>
          </a:p>
        </p:txBody>
      </p:sp>
    </p:spTree>
    <p:extLst>
      <p:ext uri="{BB962C8B-B14F-4D97-AF65-F5344CB8AC3E}">
        <p14:creationId xmlns:p14="http://schemas.microsoft.com/office/powerpoint/2010/main" val="1669385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9EF8-7878-1D46-BBC3-2AF26A7E7D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4208F3-21F3-8A78-BA16-94815F7590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B16CAB-45E3-7EBF-C5FD-D3B13D6873F8}"/>
              </a:ext>
            </a:extLst>
          </p:cNvPr>
          <p:cNvSpPr>
            <a:spLocks noGrp="1"/>
          </p:cNvSpPr>
          <p:nvPr>
            <p:ph type="dt" sz="half" idx="10"/>
          </p:nvPr>
        </p:nvSpPr>
        <p:spPr/>
        <p:txBody>
          <a:bodyPr/>
          <a:lstStyle/>
          <a:p>
            <a:fld id="{35BEBC1E-9777-9242-8610-B51F4DCFE5A3}" type="datetimeFigureOut">
              <a:rPr lang="en-US" smtClean="0"/>
              <a:t>10/8/26</a:t>
            </a:fld>
            <a:endParaRPr lang="en-US"/>
          </a:p>
        </p:txBody>
      </p:sp>
      <p:sp>
        <p:nvSpPr>
          <p:cNvPr id="5" name="Footer Placeholder 4">
            <a:extLst>
              <a:ext uri="{FF2B5EF4-FFF2-40B4-BE49-F238E27FC236}">
                <a16:creationId xmlns:a16="http://schemas.microsoft.com/office/drawing/2014/main" id="{12231C1D-525D-D64A-1136-C72B1E355C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5FACF0-981F-297F-9DA5-E0A71CA8B051}"/>
              </a:ext>
            </a:extLst>
          </p:cNvPr>
          <p:cNvSpPr>
            <a:spLocks noGrp="1"/>
          </p:cNvSpPr>
          <p:nvPr>
            <p:ph type="sldNum" sz="quarter" idx="12"/>
          </p:nvPr>
        </p:nvSpPr>
        <p:spPr/>
        <p:txBody>
          <a:bodyPr/>
          <a:lstStyle/>
          <a:p>
            <a:fld id="{88514028-E3F7-6E43-A40E-6F68FB9D24B1}" type="slidenum">
              <a:rPr lang="en-US" smtClean="0"/>
              <a:t>‹#›</a:t>
            </a:fld>
            <a:endParaRPr lang="en-US"/>
          </a:p>
        </p:txBody>
      </p:sp>
    </p:spTree>
    <p:extLst>
      <p:ext uri="{BB962C8B-B14F-4D97-AF65-F5344CB8AC3E}">
        <p14:creationId xmlns:p14="http://schemas.microsoft.com/office/powerpoint/2010/main" val="189621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211B12-7665-1339-5D60-8988A021EA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827942-29DF-378F-0667-89AF6DC29C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E82D66-F779-7432-968E-039B6F25E8F3}"/>
              </a:ext>
            </a:extLst>
          </p:cNvPr>
          <p:cNvSpPr>
            <a:spLocks noGrp="1"/>
          </p:cNvSpPr>
          <p:nvPr>
            <p:ph type="dt" sz="half" idx="10"/>
          </p:nvPr>
        </p:nvSpPr>
        <p:spPr/>
        <p:txBody>
          <a:bodyPr/>
          <a:lstStyle/>
          <a:p>
            <a:fld id="{35BEBC1E-9777-9242-8610-B51F4DCFE5A3}" type="datetimeFigureOut">
              <a:rPr lang="en-US" smtClean="0"/>
              <a:t>10/8/26</a:t>
            </a:fld>
            <a:endParaRPr lang="en-US"/>
          </a:p>
        </p:txBody>
      </p:sp>
      <p:sp>
        <p:nvSpPr>
          <p:cNvPr id="5" name="Footer Placeholder 4">
            <a:extLst>
              <a:ext uri="{FF2B5EF4-FFF2-40B4-BE49-F238E27FC236}">
                <a16:creationId xmlns:a16="http://schemas.microsoft.com/office/drawing/2014/main" id="{90FCAE07-DCD0-C9A3-3A21-04C7ECB5DF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85C75-716D-A45D-EF34-96205854A36D}"/>
              </a:ext>
            </a:extLst>
          </p:cNvPr>
          <p:cNvSpPr>
            <a:spLocks noGrp="1"/>
          </p:cNvSpPr>
          <p:nvPr>
            <p:ph type="sldNum" sz="quarter" idx="12"/>
          </p:nvPr>
        </p:nvSpPr>
        <p:spPr/>
        <p:txBody>
          <a:bodyPr/>
          <a:lstStyle/>
          <a:p>
            <a:fld id="{88514028-E3F7-6E43-A40E-6F68FB9D24B1}" type="slidenum">
              <a:rPr lang="en-US" smtClean="0"/>
              <a:t>‹#›</a:t>
            </a:fld>
            <a:endParaRPr lang="en-US"/>
          </a:p>
        </p:txBody>
      </p:sp>
    </p:spTree>
    <p:extLst>
      <p:ext uri="{BB962C8B-B14F-4D97-AF65-F5344CB8AC3E}">
        <p14:creationId xmlns:p14="http://schemas.microsoft.com/office/powerpoint/2010/main" val="3989777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36A577-186E-BB13-6DEE-8ABA080553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387596-23A7-9FE5-CF56-8DA5EAE4FF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17EAE-B11D-22B9-D528-D1F3D0B910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BEBC1E-9777-9242-8610-B51F4DCFE5A3}" type="datetimeFigureOut">
              <a:rPr lang="en-US" smtClean="0"/>
              <a:t>10/8/26</a:t>
            </a:fld>
            <a:endParaRPr lang="en-US"/>
          </a:p>
        </p:txBody>
      </p:sp>
      <p:sp>
        <p:nvSpPr>
          <p:cNvPr id="5" name="Footer Placeholder 4">
            <a:extLst>
              <a:ext uri="{FF2B5EF4-FFF2-40B4-BE49-F238E27FC236}">
                <a16:creationId xmlns:a16="http://schemas.microsoft.com/office/drawing/2014/main" id="{4552100F-9A53-1B04-4CE2-2539A4922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0A49A79-B33A-E07C-CFD8-8C9F899437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514028-E3F7-6E43-A40E-6F68FB9D24B1}" type="slidenum">
              <a:rPr lang="en-US" smtClean="0"/>
              <a:t>‹#›</a:t>
            </a:fld>
            <a:endParaRPr lang="en-US"/>
          </a:p>
        </p:txBody>
      </p:sp>
    </p:spTree>
    <p:extLst>
      <p:ext uri="{BB962C8B-B14F-4D97-AF65-F5344CB8AC3E}">
        <p14:creationId xmlns:p14="http://schemas.microsoft.com/office/powerpoint/2010/main" val="1128725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MSz999/Nucleoside_Digestion_Andrewplus/tree/mai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7A6E-0E6D-05C9-B12F-E40D7EEC258C}"/>
              </a:ext>
            </a:extLst>
          </p:cNvPr>
          <p:cNvSpPr>
            <a:spLocks noGrp="1"/>
          </p:cNvSpPr>
          <p:nvPr>
            <p:ph type="ctrTitle"/>
          </p:nvPr>
        </p:nvSpPr>
        <p:spPr/>
        <p:txBody>
          <a:bodyPr>
            <a:normAutofit fontScale="90000"/>
          </a:bodyPr>
          <a:lstStyle/>
          <a:p>
            <a:r>
              <a:rPr lang="en-US" dirty="0"/>
              <a:t>How to:</a:t>
            </a:r>
            <a:br>
              <a:rPr lang="en-US" dirty="0"/>
            </a:br>
            <a:r>
              <a:rPr lang="en-US" dirty="0"/>
              <a:t>Nucleoside Digestion + HPLC vial transfer on the Andrew+</a:t>
            </a:r>
          </a:p>
        </p:txBody>
      </p:sp>
      <p:sp>
        <p:nvSpPr>
          <p:cNvPr id="3" name="Subtitle 2">
            <a:extLst>
              <a:ext uri="{FF2B5EF4-FFF2-40B4-BE49-F238E27FC236}">
                <a16:creationId xmlns:a16="http://schemas.microsoft.com/office/drawing/2014/main" id="{80390FB6-82FD-1ADB-9726-707CBF6F7B33}"/>
              </a:ext>
            </a:extLst>
          </p:cNvPr>
          <p:cNvSpPr>
            <a:spLocks noGrp="1"/>
          </p:cNvSpPr>
          <p:nvPr>
            <p:ph type="subTitle" idx="1"/>
          </p:nvPr>
        </p:nvSpPr>
        <p:spPr/>
        <p:txBody>
          <a:bodyPr/>
          <a:lstStyle/>
          <a:p>
            <a:r>
              <a:rPr lang="en-US" dirty="0"/>
              <a:t>261009</a:t>
            </a:r>
          </a:p>
        </p:txBody>
      </p:sp>
    </p:spTree>
    <p:extLst>
      <p:ext uri="{BB962C8B-B14F-4D97-AF65-F5344CB8AC3E}">
        <p14:creationId xmlns:p14="http://schemas.microsoft.com/office/powerpoint/2010/main" val="3309542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1E58D-8030-2A8E-AB45-B0252053288D}"/>
              </a:ext>
            </a:extLst>
          </p:cNvPr>
          <p:cNvSpPr>
            <a:spLocks noGrp="1"/>
          </p:cNvSpPr>
          <p:nvPr>
            <p:ph type="title"/>
          </p:nvPr>
        </p:nvSpPr>
        <p:spPr>
          <a:xfrm>
            <a:off x="0" y="-375612"/>
            <a:ext cx="12129247" cy="1325563"/>
          </a:xfrm>
        </p:spPr>
        <p:txBody>
          <a:bodyPr>
            <a:normAutofit/>
          </a:bodyPr>
          <a:lstStyle/>
          <a:p>
            <a:r>
              <a:rPr lang="en-US" sz="2800" u="sng" dirty="0"/>
              <a:t>Automation of Nucleoside Digestion and HPLC Vial Transfer Overview</a:t>
            </a:r>
          </a:p>
        </p:txBody>
      </p:sp>
      <p:sp>
        <p:nvSpPr>
          <p:cNvPr id="4" name="TextBox 3">
            <a:extLst>
              <a:ext uri="{FF2B5EF4-FFF2-40B4-BE49-F238E27FC236}">
                <a16:creationId xmlns:a16="http://schemas.microsoft.com/office/drawing/2014/main" id="{BFC7F56E-D618-0044-5DC9-9B5155BB5FA4}"/>
              </a:ext>
            </a:extLst>
          </p:cNvPr>
          <p:cNvSpPr txBox="1"/>
          <p:nvPr/>
        </p:nvSpPr>
        <p:spPr>
          <a:xfrm>
            <a:off x="146573" y="758615"/>
            <a:ext cx="11573436" cy="1600438"/>
          </a:xfrm>
          <a:prstGeom prst="rect">
            <a:avLst/>
          </a:prstGeom>
          <a:noFill/>
        </p:spPr>
        <p:txBody>
          <a:bodyPr wrap="square" rtlCol="0">
            <a:spAutoFit/>
          </a:bodyPr>
          <a:lstStyle/>
          <a:p>
            <a:pPr marL="342900" indent="-342900">
              <a:buFont typeface="+mj-lt"/>
              <a:buAutoNum type="arabicPeriod"/>
            </a:pPr>
            <a:r>
              <a:rPr lang="en-US" sz="1400" dirty="0"/>
              <a:t>Quantify RNA concentration by Nanodrop (single or multichannel).</a:t>
            </a:r>
            <a:r>
              <a:rPr lang="en-US" sz="1400" dirty="0">
                <a:solidFill>
                  <a:srgbClr val="FF0000"/>
                </a:solidFill>
              </a:rPr>
              <a:t> (By hand)</a:t>
            </a:r>
            <a:endParaRPr lang="en-US" sz="1400" dirty="0"/>
          </a:p>
          <a:p>
            <a:pPr marL="342900" indent="-342900">
              <a:buFont typeface="+mj-lt"/>
              <a:buAutoNum type="arabicPeriod"/>
            </a:pPr>
            <a:r>
              <a:rPr lang="en-US" sz="1400" dirty="0"/>
              <a:t>Setup 30uL (45ng) nucleoside digestion reactions in 96well plate:</a:t>
            </a:r>
          </a:p>
          <a:p>
            <a:pPr marL="800100" lvl="1" indent="-342900">
              <a:buFont typeface="+mj-lt"/>
              <a:buAutoNum type="arabicPeriod"/>
            </a:pPr>
            <a:r>
              <a:rPr lang="en-US" sz="1400" dirty="0"/>
              <a:t>Transfer 45ng of RNA from starting plate -&gt; target destination plate and dilute to a final volume of 26uL with Nuclease Free H2O. </a:t>
            </a:r>
            <a:r>
              <a:rPr lang="en-US" sz="1400" dirty="0">
                <a:solidFill>
                  <a:srgbClr val="FF0000"/>
                </a:solidFill>
              </a:rPr>
              <a:t>(Andrew +)</a:t>
            </a:r>
          </a:p>
          <a:p>
            <a:pPr marL="800100" lvl="1" indent="-342900">
              <a:buFont typeface="+mj-lt"/>
              <a:buAutoNum type="arabicPeriod"/>
            </a:pPr>
            <a:r>
              <a:rPr lang="en-US" sz="1400" dirty="0"/>
              <a:t>Add 3uL 10x Nucleoside Digestion Buffer. </a:t>
            </a:r>
            <a:r>
              <a:rPr lang="en-US" sz="1400" dirty="0">
                <a:solidFill>
                  <a:srgbClr val="FF0000"/>
                </a:solidFill>
              </a:rPr>
              <a:t>(Andrew+)</a:t>
            </a:r>
            <a:r>
              <a:rPr lang="en-US" sz="1400" dirty="0"/>
              <a:t> </a:t>
            </a:r>
          </a:p>
          <a:p>
            <a:pPr marL="800100" lvl="1" indent="-342900">
              <a:buFont typeface="+mj-lt"/>
              <a:buAutoNum type="arabicPeriod"/>
            </a:pPr>
            <a:r>
              <a:rPr lang="en-US" sz="1400" dirty="0"/>
              <a:t>Add 1uL nucleoside digestion mix. </a:t>
            </a:r>
            <a:r>
              <a:rPr lang="en-US" sz="1400" dirty="0">
                <a:solidFill>
                  <a:srgbClr val="FF0000"/>
                </a:solidFill>
              </a:rPr>
              <a:t>(Andrew+)</a:t>
            </a:r>
          </a:p>
          <a:p>
            <a:pPr marL="800100" lvl="1" indent="-342900">
              <a:buFont typeface="+mj-lt"/>
              <a:buAutoNum type="arabicPeriod"/>
            </a:pPr>
            <a:r>
              <a:rPr lang="en-US" sz="1400" dirty="0"/>
              <a:t>Incubate at 37C for 1 hour on thermal cycler. </a:t>
            </a:r>
            <a:r>
              <a:rPr lang="en-US" sz="1400" dirty="0">
                <a:solidFill>
                  <a:srgbClr val="FF0000"/>
                </a:solidFill>
              </a:rPr>
              <a:t>(By hand)</a:t>
            </a:r>
          </a:p>
          <a:p>
            <a:pPr marL="342900" indent="-342900">
              <a:buFont typeface="+mj-lt"/>
              <a:buAutoNum type="arabicPeriod"/>
            </a:pPr>
            <a:r>
              <a:rPr lang="en-US" sz="1400" dirty="0"/>
              <a:t>Transfer 20uL (30ng) of nucleosides from 96well plate to Glass 0.2mL HPLC Vials. </a:t>
            </a:r>
            <a:r>
              <a:rPr lang="en-US" sz="1400" dirty="0">
                <a:solidFill>
                  <a:srgbClr val="FF0000"/>
                </a:solidFill>
              </a:rPr>
              <a:t>(Andrew+) </a:t>
            </a:r>
          </a:p>
        </p:txBody>
      </p:sp>
      <p:sp>
        <p:nvSpPr>
          <p:cNvPr id="5" name="TextBox 4">
            <a:extLst>
              <a:ext uri="{FF2B5EF4-FFF2-40B4-BE49-F238E27FC236}">
                <a16:creationId xmlns:a16="http://schemas.microsoft.com/office/drawing/2014/main" id="{911ED798-6EB1-814D-C4AA-5344595FDBF3}"/>
              </a:ext>
            </a:extLst>
          </p:cNvPr>
          <p:cNvSpPr txBox="1"/>
          <p:nvPr/>
        </p:nvSpPr>
        <p:spPr>
          <a:xfrm>
            <a:off x="62753" y="458053"/>
            <a:ext cx="2062296" cy="369332"/>
          </a:xfrm>
          <a:prstGeom prst="rect">
            <a:avLst/>
          </a:prstGeom>
          <a:noFill/>
        </p:spPr>
        <p:txBody>
          <a:bodyPr wrap="none" rtlCol="0">
            <a:spAutoFit/>
          </a:bodyPr>
          <a:lstStyle/>
          <a:p>
            <a:r>
              <a:rPr lang="en-US" b="1" dirty="0"/>
              <a:t>General Workflow</a:t>
            </a:r>
          </a:p>
        </p:txBody>
      </p:sp>
      <p:graphicFrame>
        <p:nvGraphicFramePr>
          <p:cNvPr id="16" name="Table 15">
            <a:extLst>
              <a:ext uri="{FF2B5EF4-FFF2-40B4-BE49-F238E27FC236}">
                <a16:creationId xmlns:a16="http://schemas.microsoft.com/office/drawing/2014/main" id="{97D762FF-2054-73AB-4693-03135C47F7BF}"/>
              </a:ext>
            </a:extLst>
          </p:cNvPr>
          <p:cNvGraphicFramePr>
            <a:graphicFrameLocks noGrp="1"/>
          </p:cNvGraphicFramePr>
          <p:nvPr>
            <p:extLst>
              <p:ext uri="{D42A27DB-BD31-4B8C-83A1-F6EECF244321}">
                <p14:modId xmlns:p14="http://schemas.microsoft.com/office/powerpoint/2010/main" val="556782865"/>
              </p:ext>
            </p:extLst>
          </p:nvPr>
        </p:nvGraphicFramePr>
        <p:xfrm>
          <a:off x="146573" y="2846599"/>
          <a:ext cx="5099193" cy="2076450"/>
        </p:xfrm>
        <a:graphic>
          <a:graphicData uri="http://schemas.openxmlformats.org/drawingml/2006/table">
            <a:tbl>
              <a:tblPr>
                <a:tableStyleId>{073A0DAA-6AF3-43AB-8588-CEC1D06C72B9}</a:tableStyleId>
              </a:tblPr>
              <a:tblGrid>
                <a:gridCol w="2297364">
                  <a:extLst>
                    <a:ext uri="{9D8B030D-6E8A-4147-A177-3AD203B41FA5}">
                      <a16:colId xmlns:a16="http://schemas.microsoft.com/office/drawing/2014/main" val="2545107462"/>
                    </a:ext>
                  </a:extLst>
                </a:gridCol>
                <a:gridCol w="712939">
                  <a:extLst>
                    <a:ext uri="{9D8B030D-6E8A-4147-A177-3AD203B41FA5}">
                      <a16:colId xmlns:a16="http://schemas.microsoft.com/office/drawing/2014/main" val="4100238349"/>
                    </a:ext>
                  </a:extLst>
                </a:gridCol>
                <a:gridCol w="167614">
                  <a:extLst>
                    <a:ext uri="{9D8B030D-6E8A-4147-A177-3AD203B41FA5}">
                      <a16:colId xmlns:a16="http://schemas.microsoft.com/office/drawing/2014/main" val="272081638"/>
                    </a:ext>
                  </a:extLst>
                </a:gridCol>
                <a:gridCol w="627802">
                  <a:extLst>
                    <a:ext uri="{9D8B030D-6E8A-4147-A177-3AD203B41FA5}">
                      <a16:colId xmlns:a16="http://schemas.microsoft.com/office/drawing/2014/main" val="1071835534"/>
                    </a:ext>
                  </a:extLst>
                </a:gridCol>
                <a:gridCol w="1293474">
                  <a:extLst>
                    <a:ext uri="{9D8B030D-6E8A-4147-A177-3AD203B41FA5}">
                      <a16:colId xmlns:a16="http://schemas.microsoft.com/office/drawing/2014/main" val="910529814"/>
                    </a:ext>
                  </a:extLst>
                </a:gridCol>
              </a:tblGrid>
              <a:tr h="297437">
                <a:tc>
                  <a:txBody>
                    <a:bodyPr/>
                    <a:lstStyle/>
                    <a:p>
                      <a:pPr algn="ctr" fontAlgn="b">
                        <a:buNone/>
                      </a:pPr>
                      <a:r>
                        <a:rPr lang="en-US" sz="1000" b="1" u="none" strike="noStrike" dirty="0">
                          <a:effectLst/>
                        </a:rPr>
                        <a:t>Name</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1000" b="1" u="none" strike="noStrike" dirty="0">
                          <a:effectLst/>
                        </a:rPr>
                        <a:t>Product Number</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ctr" fontAlgn="b">
                        <a:buNone/>
                      </a:pPr>
                      <a:r>
                        <a:rPr lang="en-US" sz="1000" b="1" u="none" strike="noStrike" dirty="0">
                          <a:solidFill>
                            <a:srgbClr val="000000"/>
                          </a:solidFill>
                          <a:effectLst/>
                        </a:rPr>
                        <a:t>Supplier</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fontAlgn="b">
                        <a:buNone/>
                      </a:pPr>
                      <a:r>
                        <a:rPr lang="en-US" sz="1000" b="1" u="none" strike="noStrike" dirty="0">
                          <a:solidFill>
                            <a:srgbClr val="000000"/>
                          </a:solidFill>
                          <a:effectLst/>
                        </a:rPr>
                        <a:t>Supplier</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1000" b="1" u="none" strike="noStrike" dirty="0">
                          <a:effectLst/>
                        </a:rPr>
                        <a:t>Source</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18801627"/>
                  </a:ext>
                </a:extLst>
              </a:tr>
              <a:tr h="153225">
                <a:tc gridSpan="5">
                  <a:txBody>
                    <a:bodyPr/>
                    <a:lstStyle/>
                    <a:p>
                      <a:pPr algn="ctr" fontAlgn="b">
                        <a:buNone/>
                      </a:pPr>
                      <a:r>
                        <a:rPr lang="en-US" sz="1000" b="1" i="0" u="none" strike="noStrike" dirty="0">
                          <a:solidFill>
                            <a:srgbClr val="000000"/>
                          </a:solidFill>
                          <a:effectLst/>
                          <a:latin typeface="Aptos Narrow" panose="020B0004020202020204" pitchFamily="34" charset="0"/>
                        </a:rPr>
                        <a:t>Plasticware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13207844"/>
                  </a:ext>
                </a:extLst>
              </a:tr>
              <a:tr h="297437">
                <a:tc>
                  <a:txBody>
                    <a:bodyPr/>
                    <a:lstStyle/>
                    <a:p>
                      <a:pPr algn="l" fontAlgn="b">
                        <a:buNone/>
                      </a:pPr>
                      <a:r>
                        <a:rPr lang="en-US" sz="1000" u="none" strike="noStrike" dirty="0">
                          <a:effectLst/>
                        </a:rPr>
                        <a:t>VWR PCR Plate 96 well Half-skirt ABI-type, single notch A12 </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b">
                        <a:buNone/>
                      </a:pPr>
                      <a:r>
                        <a:rPr lang="en-US" sz="1000" u="none" strike="noStrike" dirty="0">
                          <a:effectLst/>
                        </a:rPr>
                        <a:t>83007-374</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u="none" strike="noStrike" dirty="0">
                          <a:solidFill>
                            <a:srgbClr val="000000"/>
                          </a:solidFill>
                          <a:effectLst/>
                        </a:rPr>
                        <a:t>VWR</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a:effectLst/>
                        </a:rPr>
                        <a:t>Internal</a:t>
                      </a:r>
                      <a:endParaRPr lang="en-US" sz="10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2529424"/>
                  </a:ext>
                </a:extLst>
              </a:tr>
              <a:tr h="157066">
                <a:tc>
                  <a:txBody>
                    <a:bodyPr/>
                    <a:lstStyle/>
                    <a:p>
                      <a:pPr algn="l" fontAlgn="b">
                        <a:buClr>
                          <a:srgbClr val="000000"/>
                        </a:buClr>
                        <a:buSzPts val="1200"/>
                        <a:buFont typeface="Aptos Narrow" panose="020B0004020202020204" pitchFamily="34" charset="0"/>
                        <a:buNone/>
                      </a:pPr>
                      <a:r>
                        <a:rPr lang="en-US" sz="1000" b="0" u="none" strike="noStrike" dirty="0">
                          <a:solidFill>
                            <a:srgbClr val="000000"/>
                          </a:solidFill>
                          <a:effectLst/>
                        </a:rPr>
                        <a:t>1.5mL Eppendorf DNA </a:t>
                      </a:r>
                      <a:r>
                        <a:rPr lang="en-US" sz="1000" b="0" u="none" strike="noStrike" dirty="0" err="1">
                          <a:solidFill>
                            <a:srgbClr val="000000"/>
                          </a:solidFill>
                          <a:effectLst/>
                        </a:rPr>
                        <a:t>LoBind</a:t>
                      </a:r>
                      <a:r>
                        <a:rPr lang="en-US" sz="1000" b="0" u="none" strike="noStrike" dirty="0">
                          <a:solidFill>
                            <a:srgbClr val="000000"/>
                          </a:solidFill>
                          <a:effectLst/>
                        </a:rPr>
                        <a:t> Tubes</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u="none" strike="noStrike" dirty="0">
                          <a:solidFill>
                            <a:srgbClr val="000000"/>
                          </a:solidFill>
                          <a:effectLst/>
                        </a:rPr>
                        <a:t>Eppendorf</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a:effectLst/>
                        </a:rPr>
                        <a:t>Internal</a:t>
                      </a:r>
                      <a:endParaRPr lang="en-US" sz="10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0295560"/>
                  </a:ext>
                </a:extLst>
              </a:tr>
              <a:tr h="157066">
                <a:tc>
                  <a:txBody>
                    <a:bodyPr/>
                    <a:lstStyle/>
                    <a:p>
                      <a:pPr algn="l" fontAlgn="b">
                        <a:buNone/>
                      </a:pPr>
                      <a:r>
                        <a:rPr lang="en-US" sz="1000" b="0" i="0" u="none" strike="noStrike" dirty="0">
                          <a:solidFill>
                            <a:srgbClr val="000000"/>
                          </a:solidFill>
                          <a:effectLst/>
                          <a:latin typeface="Aptos Narrow" panose="020B0004020202020204" pitchFamily="34" charset="0"/>
                        </a:rPr>
                        <a:t>Filter pipette tips (200uL)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b">
                        <a:buNone/>
                      </a:pPr>
                      <a:r>
                        <a:rPr lang="en-US" sz="1000" dirty="0"/>
                        <a:t>Z757764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Sartorius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External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0815404"/>
                  </a:ext>
                </a:extLst>
              </a:tr>
              <a:tr h="157066">
                <a:tc>
                  <a:txBody>
                    <a:bodyPr/>
                    <a:lstStyle/>
                    <a:p>
                      <a:pPr algn="l" fontAlgn="b">
                        <a:buNone/>
                      </a:pPr>
                      <a:r>
                        <a:rPr lang="en-US" sz="1000" b="0" i="0" u="none" strike="noStrike" dirty="0">
                          <a:solidFill>
                            <a:srgbClr val="000000"/>
                          </a:solidFill>
                          <a:effectLst/>
                          <a:latin typeface="Aptos Narrow" panose="020B0004020202020204" pitchFamily="34" charset="0"/>
                        </a:rPr>
                        <a:t>Filter pipette tips (10uL)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b">
                        <a:buNone/>
                      </a:pPr>
                      <a:r>
                        <a:rPr lang="en-US" sz="1000" dirty="0"/>
                        <a:t>Z757780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Sartorius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External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9320775"/>
                  </a:ext>
                </a:extLst>
              </a:tr>
              <a:tr h="153225">
                <a:tc gridSpan="5">
                  <a:txBody>
                    <a:bodyPr/>
                    <a:lstStyle/>
                    <a:p>
                      <a:pPr algn="ctr" fontAlgn="b">
                        <a:buNone/>
                      </a:pPr>
                      <a:r>
                        <a:rPr lang="en-US" sz="1000" b="1" i="0" u="none" strike="noStrike" dirty="0">
                          <a:solidFill>
                            <a:srgbClr val="000000"/>
                          </a:solidFill>
                          <a:effectLst/>
                          <a:latin typeface="Aptos Narrow" panose="020B0004020202020204" pitchFamily="34" charset="0"/>
                        </a:rPr>
                        <a:t>Reagents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algn="l" fontAlgn="b">
                        <a:buNone/>
                      </a:pPr>
                      <a:endParaRPr lang="en-US" sz="1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1272461"/>
                  </a:ext>
                </a:extLst>
              </a:tr>
              <a:tr h="297437">
                <a:tc>
                  <a:txBody>
                    <a:bodyPr/>
                    <a:lstStyle/>
                    <a:p>
                      <a:pPr algn="l" fontAlgn="b">
                        <a:buNone/>
                      </a:pPr>
                      <a:r>
                        <a:rPr lang="en-US" sz="1000" u="none" strike="noStrike" dirty="0">
                          <a:effectLst/>
                        </a:rPr>
                        <a:t>10x Nucleoside Digestion Mix Reaction Buffer </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b">
                        <a:buNone/>
                      </a:pPr>
                      <a:r>
                        <a:rPr lang="en-US" sz="1000" u="none" strike="noStrike">
                          <a:effectLst/>
                        </a:rPr>
                        <a:t>B0649S</a:t>
                      </a:r>
                      <a:endParaRPr lang="en-US" sz="10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u="none" strike="noStrike" dirty="0">
                          <a:solidFill>
                            <a:srgbClr val="000000"/>
                          </a:solidFill>
                          <a:effectLst/>
                        </a:rPr>
                        <a:t>NEB</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dirty="0">
                          <a:effectLst/>
                        </a:rPr>
                        <a:t>Internal</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2576395"/>
                  </a:ext>
                </a:extLst>
              </a:tr>
              <a:tr h="157066">
                <a:tc>
                  <a:txBody>
                    <a:bodyPr/>
                    <a:lstStyle/>
                    <a:p>
                      <a:pPr algn="l" fontAlgn="b">
                        <a:buNone/>
                      </a:pPr>
                      <a:r>
                        <a:rPr lang="en-US" sz="1000" u="none" strike="noStrike" dirty="0">
                          <a:effectLst/>
                        </a:rPr>
                        <a:t>Nucleoside Digestion Mix </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b">
                        <a:buNone/>
                      </a:pPr>
                      <a:r>
                        <a:rPr lang="en-US" sz="1000" u="none" strike="noStrike" dirty="0">
                          <a:effectLst/>
                        </a:rPr>
                        <a:t>M0649</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u="none" strike="noStrike" dirty="0">
                          <a:solidFill>
                            <a:srgbClr val="000000"/>
                          </a:solidFill>
                          <a:effectLst/>
                        </a:rPr>
                        <a:t>NEB</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a:effectLst/>
                        </a:rPr>
                        <a:t>Internal</a:t>
                      </a:r>
                      <a:endParaRPr lang="en-US" sz="10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386478"/>
                  </a:ext>
                </a:extLst>
              </a:tr>
              <a:tr h="157066">
                <a:tc>
                  <a:txBody>
                    <a:bodyPr/>
                    <a:lstStyle/>
                    <a:p>
                      <a:pPr algn="l" fontAlgn="b">
                        <a:buNone/>
                      </a:pPr>
                      <a:r>
                        <a:rPr lang="en-US" sz="1000" u="none" strike="noStrike" dirty="0">
                          <a:effectLst/>
                        </a:rPr>
                        <a:t>Nuclease Free H2O</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b">
                        <a:buNone/>
                      </a:pPr>
                      <a:r>
                        <a:rPr lang="en-US" sz="1000" dirty="0"/>
                        <a:t>AM9938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u="none" strike="noStrike" dirty="0">
                          <a:solidFill>
                            <a:srgbClr val="000000"/>
                          </a:solidFill>
                          <a:effectLst/>
                        </a:rPr>
                        <a:t>Invitrogen</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dirty="0">
                          <a:effectLst/>
                        </a:rPr>
                        <a:t>Internal</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505520"/>
                  </a:ext>
                </a:extLst>
              </a:tr>
            </a:tbl>
          </a:graphicData>
        </a:graphic>
      </p:graphicFrame>
      <p:graphicFrame>
        <p:nvGraphicFramePr>
          <p:cNvPr id="18" name="Table 17">
            <a:extLst>
              <a:ext uri="{FF2B5EF4-FFF2-40B4-BE49-F238E27FC236}">
                <a16:creationId xmlns:a16="http://schemas.microsoft.com/office/drawing/2014/main" id="{7F9E79C7-B5F9-6E7A-3C18-2E7274EBCBAA}"/>
              </a:ext>
            </a:extLst>
          </p:cNvPr>
          <p:cNvGraphicFramePr>
            <a:graphicFrameLocks noGrp="1"/>
          </p:cNvGraphicFramePr>
          <p:nvPr>
            <p:extLst>
              <p:ext uri="{D42A27DB-BD31-4B8C-83A1-F6EECF244321}">
                <p14:modId xmlns:p14="http://schemas.microsoft.com/office/powerpoint/2010/main" val="2349329451"/>
              </p:ext>
            </p:extLst>
          </p:nvPr>
        </p:nvGraphicFramePr>
        <p:xfrm>
          <a:off x="146573" y="5062181"/>
          <a:ext cx="3270188" cy="998317"/>
        </p:xfrm>
        <a:graphic>
          <a:graphicData uri="http://schemas.openxmlformats.org/drawingml/2006/table">
            <a:tbl>
              <a:tblPr>
                <a:tableStyleId>{073A0DAA-6AF3-43AB-8588-CEC1D06C72B9}</a:tableStyleId>
              </a:tblPr>
              <a:tblGrid>
                <a:gridCol w="1980789">
                  <a:extLst>
                    <a:ext uri="{9D8B030D-6E8A-4147-A177-3AD203B41FA5}">
                      <a16:colId xmlns:a16="http://schemas.microsoft.com/office/drawing/2014/main" val="2545107462"/>
                    </a:ext>
                  </a:extLst>
                </a:gridCol>
                <a:gridCol w="1289399">
                  <a:extLst>
                    <a:ext uri="{9D8B030D-6E8A-4147-A177-3AD203B41FA5}">
                      <a16:colId xmlns:a16="http://schemas.microsoft.com/office/drawing/2014/main" val="4100238349"/>
                    </a:ext>
                  </a:extLst>
                </a:gridCol>
              </a:tblGrid>
              <a:tr h="209098">
                <a:tc>
                  <a:txBody>
                    <a:bodyPr/>
                    <a:lstStyle/>
                    <a:p>
                      <a:pPr algn="l" fontAlgn="b">
                        <a:buNone/>
                      </a:pPr>
                      <a:r>
                        <a:rPr lang="en-US" sz="1000" b="1" u="none" strike="noStrike" dirty="0">
                          <a:effectLst/>
                        </a:rPr>
                        <a:t>Domino</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US" sz="1000" b="1" u="none" strike="noStrike" dirty="0">
                          <a:effectLst/>
                        </a:rPr>
                        <a:t>Number</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18801627"/>
                  </a:ext>
                </a:extLst>
              </a:tr>
              <a:tr h="160711">
                <a:tc>
                  <a:txBody>
                    <a:bodyPr/>
                    <a:lstStyle/>
                    <a:p>
                      <a:pPr algn="l" fontAlgn="b">
                        <a:buNone/>
                      </a:pPr>
                      <a:r>
                        <a:rPr lang="en-US" sz="1000" u="none" strike="noStrike" dirty="0">
                          <a:effectLst/>
                        </a:rPr>
                        <a:t>96 PCR Plate</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dirty="0">
                          <a:effectLst/>
                        </a:rPr>
                        <a:t>218.2212.136ZEV</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2529424"/>
                  </a:ext>
                </a:extLst>
              </a:tr>
              <a:tr h="209098">
                <a:tc>
                  <a:txBody>
                    <a:bodyPr/>
                    <a:lstStyle/>
                    <a:p>
                      <a:pPr algn="l" fontAlgn="b">
                        <a:buClr>
                          <a:srgbClr val="000000"/>
                        </a:buClr>
                        <a:buSzPts val="1200"/>
                        <a:buFont typeface="Aptos Narrow" panose="020B0004020202020204" pitchFamily="34" charset="0"/>
                        <a:buNone/>
                      </a:pPr>
                      <a:r>
                        <a:rPr lang="en-US" sz="1000" b="0" u="none" strike="noStrike" dirty="0">
                          <a:solidFill>
                            <a:srgbClr val="000000"/>
                          </a:solidFill>
                          <a:effectLst/>
                        </a:rPr>
                        <a:t>96-PCR Peltier+</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520.4571.15N4N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0295560"/>
                  </a:ext>
                </a:extLst>
              </a:tr>
              <a:tr h="209098">
                <a:tc>
                  <a:txBody>
                    <a:bodyPr/>
                    <a:lstStyle/>
                    <a:p>
                      <a:pPr algn="l" fontAlgn="b">
                        <a:buNone/>
                      </a:pPr>
                      <a:r>
                        <a:rPr lang="en-US" sz="1000" u="none" strike="noStrike" dirty="0">
                          <a:effectLst/>
                        </a:rPr>
                        <a:t>Tip Insertion System (2x +)</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a:effectLst/>
                        </a:rPr>
                        <a:t>B0649S</a:t>
                      </a:r>
                      <a:endParaRPr lang="en-US" sz="10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2576395"/>
                  </a:ext>
                </a:extLst>
              </a:tr>
              <a:tr h="209098">
                <a:tc>
                  <a:txBody>
                    <a:bodyPr/>
                    <a:lstStyle/>
                    <a:p>
                      <a:pPr algn="l" fontAlgn="b">
                        <a:buNone/>
                      </a:pPr>
                      <a:r>
                        <a:rPr lang="en-US" sz="1000" u="none" strike="noStrike" dirty="0">
                          <a:effectLst/>
                        </a:rPr>
                        <a:t>1.5mL Microtube Cooled</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dirty="0">
                          <a:effectLst/>
                        </a:rPr>
                        <a:t>218.245…..</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386478"/>
                  </a:ext>
                </a:extLst>
              </a:tr>
            </a:tbl>
          </a:graphicData>
        </a:graphic>
      </p:graphicFrame>
      <p:graphicFrame>
        <p:nvGraphicFramePr>
          <p:cNvPr id="19" name="Table 18">
            <a:extLst>
              <a:ext uri="{FF2B5EF4-FFF2-40B4-BE49-F238E27FC236}">
                <a16:creationId xmlns:a16="http://schemas.microsoft.com/office/drawing/2014/main" id="{A8284E93-CFAF-910B-77FB-26A9DF2034CD}"/>
              </a:ext>
            </a:extLst>
          </p:cNvPr>
          <p:cNvGraphicFramePr>
            <a:graphicFrameLocks noGrp="1"/>
          </p:cNvGraphicFramePr>
          <p:nvPr>
            <p:extLst>
              <p:ext uri="{D42A27DB-BD31-4B8C-83A1-F6EECF244321}">
                <p14:modId xmlns:p14="http://schemas.microsoft.com/office/powerpoint/2010/main" val="2685599740"/>
              </p:ext>
            </p:extLst>
          </p:nvPr>
        </p:nvGraphicFramePr>
        <p:xfrm>
          <a:off x="5604331" y="2817342"/>
          <a:ext cx="5099193" cy="1032221"/>
        </p:xfrm>
        <a:graphic>
          <a:graphicData uri="http://schemas.openxmlformats.org/drawingml/2006/table">
            <a:tbl>
              <a:tblPr>
                <a:tableStyleId>{073A0DAA-6AF3-43AB-8588-CEC1D06C72B9}</a:tableStyleId>
              </a:tblPr>
              <a:tblGrid>
                <a:gridCol w="2297364">
                  <a:extLst>
                    <a:ext uri="{9D8B030D-6E8A-4147-A177-3AD203B41FA5}">
                      <a16:colId xmlns:a16="http://schemas.microsoft.com/office/drawing/2014/main" val="2545107462"/>
                    </a:ext>
                  </a:extLst>
                </a:gridCol>
                <a:gridCol w="712939">
                  <a:extLst>
                    <a:ext uri="{9D8B030D-6E8A-4147-A177-3AD203B41FA5}">
                      <a16:colId xmlns:a16="http://schemas.microsoft.com/office/drawing/2014/main" val="4100238349"/>
                    </a:ext>
                  </a:extLst>
                </a:gridCol>
                <a:gridCol w="167614">
                  <a:extLst>
                    <a:ext uri="{9D8B030D-6E8A-4147-A177-3AD203B41FA5}">
                      <a16:colId xmlns:a16="http://schemas.microsoft.com/office/drawing/2014/main" val="272081638"/>
                    </a:ext>
                  </a:extLst>
                </a:gridCol>
                <a:gridCol w="627802">
                  <a:extLst>
                    <a:ext uri="{9D8B030D-6E8A-4147-A177-3AD203B41FA5}">
                      <a16:colId xmlns:a16="http://schemas.microsoft.com/office/drawing/2014/main" val="1071835534"/>
                    </a:ext>
                  </a:extLst>
                </a:gridCol>
                <a:gridCol w="1293474">
                  <a:extLst>
                    <a:ext uri="{9D8B030D-6E8A-4147-A177-3AD203B41FA5}">
                      <a16:colId xmlns:a16="http://schemas.microsoft.com/office/drawing/2014/main" val="910529814"/>
                    </a:ext>
                  </a:extLst>
                </a:gridCol>
              </a:tblGrid>
              <a:tr h="284006">
                <a:tc>
                  <a:txBody>
                    <a:bodyPr/>
                    <a:lstStyle/>
                    <a:p>
                      <a:pPr algn="ctr" fontAlgn="b">
                        <a:buNone/>
                      </a:pPr>
                      <a:r>
                        <a:rPr lang="en-US" sz="1000" b="1" u="none" strike="noStrike" dirty="0">
                          <a:effectLst/>
                        </a:rPr>
                        <a:t>Name</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1000" b="1" u="none" strike="noStrike" dirty="0">
                          <a:effectLst/>
                        </a:rPr>
                        <a:t>Product Number</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ctr" fontAlgn="b">
                        <a:buNone/>
                      </a:pPr>
                      <a:r>
                        <a:rPr lang="en-US" sz="1000" b="1" u="none" strike="noStrike" dirty="0">
                          <a:solidFill>
                            <a:srgbClr val="000000"/>
                          </a:solidFill>
                          <a:effectLst/>
                        </a:rPr>
                        <a:t>Supplier</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fontAlgn="b">
                        <a:buNone/>
                      </a:pPr>
                      <a:r>
                        <a:rPr lang="en-US" sz="1000" b="1" u="none" strike="noStrike" dirty="0">
                          <a:solidFill>
                            <a:srgbClr val="000000"/>
                          </a:solidFill>
                          <a:effectLst/>
                        </a:rPr>
                        <a:t>Supplier</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b">
                        <a:buNone/>
                      </a:pPr>
                      <a:r>
                        <a:rPr lang="en-US" sz="1000" b="1" u="none" strike="noStrike" dirty="0">
                          <a:effectLst/>
                        </a:rPr>
                        <a:t>Source</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18801627"/>
                  </a:ext>
                </a:extLst>
              </a:tr>
              <a:tr h="147954">
                <a:tc gridSpan="5">
                  <a:txBody>
                    <a:bodyPr/>
                    <a:lstStyle/>
                    <a:p>
                      <a:pPr algn="ctr" fontAlgn="b">
                        <a:buNone/>
                      </a:pPr>
                      <a:r>
                        <a:rPr lang="en-US" sz="1000" b="1" i="0" u="none" strike="noStrike" dirty="0">
                          <a:solidFill>
                            <a:srgbClr val="000000"/>
                          </a:solidFill>
                          <a:effectLst/>
                          <a:latin typeface="Aptos Narrow" panose="020B0004020202020204" pitchFamily="34" charset="0"/>
                        </a:rPr>
                        <a:t>Plasticware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13207844"/>
                  </a:ext>
                </a:extLst>
              </a:tr>
              <a:tr h="360679">
                <a:tc>
                  <a:txBody>
                    <a:bodyPr/>
                    <a:lstStyle/>
                    <a:p>
                      <a:pPr algn="l" fontAlgn="b">
                        <a:buNone/>
                      </a:pPr>
                      <a:r>
                        <a:rPr lang="en-US" sz="1000" u="none" strike="noStrike" dirty="0">
                          <a:effectLst/>
                        </a:rPr>
                        <a:t>MSCERT+ Kit 0.2ML CLR SCR 9mM HPLC Vials</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b">
                        <a:buNone/>
                      </a:pPr>
                      <a:r>
                        <a:rPr lang="en-US" sz="1000" u="none" strike="noStrike" dirty="0">
                          <a:effectLst/>
                        </a:rPr>
                        <a:t>6PMCK30LVW</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u="none" strike="noStrike" dirty="0" err="1">
                          <a:solidFill>
                            <a:srgbClr val="000000"/>
                          </a:solidFill>
                          <a:effectLst/>
                        </a:rPr>
                        <a:t>Thermo</a:t>
                      </a:r>
                      <a:r>
                        <a:rPr lang="en-US" sz="1000" b="0" u="none" strike="noStrike" dirty="0">
                          <a:solidFill>
                            <a:srgbClr val="000000"/>
                          </a:solidFill>
                          <a:effectLst/>
                        </a:rPr>
                        <a:t> Scientific </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dirty="0">
                          <a:effectLst/>
                        </a:rPr>
                        <a:t>Internal</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2529424"/>
                  </a:ext>
                </a:extLst>
              </a:tr>
              <a:tr h="195292">
                <a:tc>
                  <a:txBody>
                    <a:bodyPr/>
                    <a:lstStyle/>
                    <a:p>
                      <a:pPr algn="l" fontAlgn="b">
                        <a:buNone/>
                      </a:pPr>
                      <a:r>
                        <a:rPr lang="en-US" sz="1000" b="0" i="0" u="none" strike="noStrike" dirty="0">
                          <a:solidFill>
                            <a:srgbClr val="000000"/>
                          </a:solidFill>
                          <a:effectLst/>
                          <a:latin typeface="Aptos Narrow" panose="020B0004020202020204" pitchFamily="34" charset="0"/>
                        </a:rPr>
                        <a:t>Filter pipette tips (200uL)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b">
                        <a:buNone/>
                      </a:pPr>
                      <a:r>
                        <a:rPr lang="en-US" sz="1000" dirty="0"/>
                        <a:t>Z757764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en-US" sz="1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Sartorius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External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0815404"/>
                  </a:ext>
                </a:extLst>
              </a:tr>
            </a:tbl>
          </a:graphicData>
        </a:graphic>
      </p:graphicFrame>
      <p:graphicFrame>
        <p:nvGraphicFramePr>
          <p:cNvPr id="20" name="Table 19">
            <a:extLst>
              <a:ext uri="{FF2B5EF4-FFF2-40B4-BE49-F238E27FC236}">
                <a16:creationId xmlns:a16="http://schemas.microsoft.com/office/drawing/2014/main" id="{84F30665-E545-8D2F-F93C-1043E29664A4}"/>
              </a:ext>
            </a:extLst>
          </p:cNvPr>
          <p:cNvGraphicFramePr>
            <a:graphicFrameLocks noGrp="1"/>
          </p:cNvGraphicFramePr>
          <p:nvPr>
            <p:extLst>
              <p:ext uri="{D42A27DB-BD31-4B8C-83A1-F6EECF244321}">
                <p14:modId xmlns:p14="http://schemas.microsoft.com/office/powerpoint/2010/main" val="3246125715"/>
              </p:ext>
            </p:extLst>
          </p:nvPr>
        </p:nvGraphicFramePr>
        <p:xfrm>
          <a:off x="5604331" y="4028603"/>
          <a:ext cx="3270188" cy="894446"/>
        </p:xfrm>
        <a:graphic>
          <a:graphicData uri="http://schemas.openxmlformats.org/drawingml/2006/table">
            <a:tbl>
              <a:tblPr>
                <a:tableStyleId>{073A0DAA-6AF3-43AB-8588-CEC1D06C72B9}</a:tableStyleId>
              </a:tblPr>
              <a:tblGrid>
                <a:gridCol w="1980789">
                  <a:extLst>
                    <a:ext uri="{9D8B030D-6E8A-4147-A177-3AD203B41FA5}">
                      <a16:colId xmlns:a16="http://schemas.microsoft.com/office/drawing/2014/main" val="2545107462"/>
                    </a:ext>
                  </a:extLst>
                </a:gridCol>
                <a:gridCol w="1289399">
                  <a:extLst>
                    <a:ext uri="{9D8B030D-6E8A-4147-A177-3AD203B41FA5}">
                      <a16:colId xmlns:a16="http://schemas.microsoft.com/office/drawing/2014/main" val="4100238349"/>
                    </a:ext>
                  </a:extLst>
                </a:gridCol>
              </a:tblGrid>
              <a:tr h="209098">
                <a:tc>
                  <a:txBody>
                    <a:bodyPr/>
                    <a:lstStyle/>
                    <a:p>
                      <a:pPr algn="l" fontAlgn="b">
                        <a:buNone/>
                      </a:pPr>
                      <a:r>
                        <a:rPr lang="en-US" sz="1000" b="1" u="none" strike="noStrike" dirty="0">
                          <a:effectLst/>
                        </a:rPr>
                        <a:t>Domino</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buNone/>
                      </a:pPr>
                      <a:r>
                        <a:rPr lang="en-US" sz="1000" b="1" u="none" strike="noStrike" dirty="0">
                          <a:effectLst/>
                        </a:rPr>
                        <a:t>Number</a:t>
                      </a:r>
                      <a:endParaRPr lang="en-US" sz="10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18801627"/>
                  </a:ext>
                </a:extLst>
              </a:tr>
              <a:tr h="160711">
                <a:tc>
                  <a:txBody>
                    <a:bodyPr/>
                    <a:lstStyle/>
                    <a:p>
                      <a:pPr algn="l" fontAlgn="b">
                        <a:buNone/>
                      </a:pPr>
                      <a:r>
                        <a:rPr lang="en-US" sz="1000" u="none" strike="noStrike" dirty="0">
                          <a:effectLst/>
                        </a:rPr>
                        <a:t>96 PCR Plate</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dirty="0">
                          <a:effectLst/>
                        </a:rPr>
                        <a:t>218.2212.136ZEV</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2529424"/>
                  </a:ext>
                </a:extLst>
              </a:tr>
              <a:tr h="209098">
                <a:tc>
                  <a:txBody>
                    <a:bodyPr/>
                    <a:lstStyle/>
                    <a:p>
                      <a:pPr algn="l" fontAlgn="b">
                        <a:buNone/>
                      </a:pPr>
                      <a:r>
                        <a:rPr lang="en-US" sz="1000" u="none" strike="noStrike" dirty="0">
                          <a:effectLst/>
                        </a:rPr>
                        <a:t>Tip Insertion System (2x +)</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dirty="0">
                          <a:effectLst/>
                        </a:rPr>
                        <a:t>B0649S</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2576395"/>
                  </a:ext>
                </a:extLst>
              </a:tr>
              <a:tr h="209098">
                <a:tc>
                  <a:txBody>
                    <a:bodyPr/>
                    <a:lstStyle/>
                    <a:p>
                      <a:pPr algn="l" fontAlgn="b">
                        <a:buNone/>
                      </a:pPr>
                      <a:r>
                        <a:rPr lang="en-US" sz="1000" u="none" strike="noStrike" dirty="0">
                          <a:effectLst/>
                        </a:rPr>
                        <a:t>Storage plate + Black 48 vial HPLC Rack</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u="none" strike="noStrike" dirty="0">
                          <a:effectLst/>
                        </a:rPr>
                        <a:t>218.2901.1437UL</a:t>
                      </a:r>
                      <a:endParaRPr lang="en-US" sz="10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386478"/>
                  </a:ext>
                </a:extLst>
              </a:tr>
            </a:tbl>
          </a:graphicData>
        </a:graphic>
      </p:graphicFrame>
      <p:sp>
        <p:nvSpPr>
          <p:cNvPr id="21" name="TextBox 20">
            <a:extLst>
              <a:ext uri="{FF2B5EF4-FFF2-40B4-BE49-F238E27FC236}">
                <a16:creationId xmlns:a16="http://schemas.microsoft.com/office/drawing/2014/main" id="{615814BD-5E03-9EDE-1E2E-3F0E6C6A580C}"/>
              </a:ext>
            </a:extLst>
          </p:cNvPr>
          <p:cNvSpPr txBox="1"/>
          <p:nvPr/>
        </p:nvSpPr>
        <p:spPr>
          <a:xfrm>
            <a:off x="1166493" y="2553578"/>
            <a:ext cx="3498971" cy="307777"/>
          </a:xfrm>
          <a:prstGeom prst="rect">
            <a:avLst/>
          </a:prstGeom>
          <a:noFill/>
        </p:spPr>
        <p:txBody>
          <a:bodyPr wrap="none" rtlCol="0">
            <a:spAutoFit/>
          </a:bodyPr>
          <a:lstStyle/>
          <a:p>
            <a:r>
              <a:rPr lang="en-US" sz="1400" b="1" dirty="0"/>
              <a:t>Nucleoside Digestion Protocol  Materials</a:t>
            </a:r>
          </a:p>
        </p:txBody>
      </p:sp>
      <p:sp>
        <p:nvSpPr>
          <p:cNvPr id="22" name="TextBox 21">
            <a:extLst>
              <a:ext uri="{FF2B5EF4-FFF2-40B4-BE49-F238E27FC236}">
                <a16:creationId xmlns:a16="http://schemas.microsoft.com/office/drawing/2014/main" id="{ED06846A-922B-EA16-D624-D1C85D77F6DF}"/>
              </a:ext>
            </a:extLst>
          </p:cNvPr>
          <p:cNvSpPr txBox="1"/>
          <p:nvPr/>
        </p:nvSpPr>
        <p:spPr>
          <a:xfrm>
            <a:off x="6873783" y="2529762"/>
            <a:ext cx="3222421" cy="307777"/>
          </a:xfrm>
          <a:prstGeom prst="rect">
            <a:avLst/>
          </a:prstGeom>
          <a:noFill/>
        </p:spPr>
        <p:txBody>
          <a:bodyPr wrap="none" rtlCol="0">
            <a:spAutoFit/>
          </a:bodyPr>
          <a:lstStyle/>
          <a:p>
            <a:r>
              <a:rPr lang="en-US" sz="1400" b="1" dirty="0"/>
              <a:t>HPLC Vial Transfer Protocol Materials</a:t>
            </a:r>
          </a:p>
        </p:txBody>
      </p:sp>
      <p:sp>
        <p:nvSpPr>
          <p:cNvPr id="23" name="TextBox 22">
            <a:extLst>
              <a:ext uri="{FF2B5EF4-FFF2-40B4-BE49-F238E27FC236}">
                <a16:creationId xmlns:a16="http://schemas.microsoft.com/office/drawing/2014/main" id="{B77E6210-5888-2C38-CBDB-A5F3FAE57903}"/>
              </a:ext>
            </a:extLst>
          </p:cNvPr>
          <p:cNvSpPr txBox="1"/>
          <p:nvPr/>
        </p:nvSpPr>
        <p:spPr>
          <a:xfrm>
            <a:off x="4070838" y="5410595"/>
            <a:ext cx="7883090" cy="1200329"/>
          </a:xfrm>
          <a:prstGeom prst="rect">
            <a:avLst/>
          </a:prstGeom>
          <a:noFill/>
        </p:spPr>
        <p:txBody>
          <a:bodyPr wrap="square" rtlCol="0">
            <a:spAutoFit/>
          </a:bodyPr>
          <a:lstStyle/>
          <a:p>
            <a:r>
              <a:rPr lang="en-US" b="1" dirty="0"/>
              <a:t>NOTE: </a:t>
            </a:r>
            <a:r>
              <a:rPr lang="en-US" dirty="0"/>
              <a:t>Many of our common consumables are NOT “registered” in </a:t>
            </a:r>
            <a:r>
              <a:rPr lang="en-US" dirty="0" err="1"/>
              <a:t>OneLab</a:t>
            </a:r>
            <a:r>
              <a:rPr lang="en-US" dirty="0"/>
              <a:t> software and we had to trick Andrew to use them. Start from the protocol templates which have the appropriate plasticware preset and the adjustments/offsets needed to use them.</a:t>
            </a:r>
          </a:p>
        </p:txBody>
      </p:sp>
    </p:spTree>
    <p:extLst>
      <p:ext uri="{BB962C8B-B14F-4D97-AF65-F5344CB8AC3E}">
        <p14:creationId xmlns:p14="http://schemas.microsoft.com/office/powerpoint/2010/main" val="3767092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F11C56-50DA-7FB2-05D9-2C39BF8FD607}"/>
              </a:ext>
            </a:extLst>
          </p:cNvPr>
          <p:cNvSpPr>
            <a:spLocks noGrp="1"/>
          </p:cNvSpPr>
          <p:nvPr>
            <p:ph type="ctrTitle"/>
          </p:nvPr>
        </p:nvSpPr>
        <p:spPr/>
        <p:txBody>
          <a:bodyPr/>
          <a:lstStyle/>
          <a:p>
            <a:r>
              <a:rPr lang="en-US" dirty="0"/>
              <a:t>Nucleoside Digestion Protocol</a:t>
            </a:r>
          </a:p>
        </p:txBody>
      </p:sp>
      <p:sp>
        <p:nvSpPr>
          <p:cNvPr id="5" name="Subtitle 4">
            <a:extLst>
              <a:ext uri="{FF2B5EF4-FFF2-40B4-BE49-F238E27FC236}">
                <a16:creationId xmlns:a16="http://schemas.microsoft.com/office/drawing/2014/main" id="{F9228AA2-82CA-4109-82C6-FD984EA67D2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96548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7438A-56E6-8487-89A3-4285D0FEBB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D0410-0C5F-0CD6-61B3-7E7822599850}"/>
              </a:ext>
            </a:extLst>
          </p:cNvPr>
          <p:cNvSpPr>
            <a:spLocks noGrp="1"/>
          </p:cNvSpPr>
          <p:nvPr>
            <p:ph type="title"/>
          </p:nvPr>
        </p:nvSpPr>
        <p:spPr>
          <a:xfrm>
            <a:off x="0" y="-276744"/>
            <a:ext cx="12129247" cy="1325563"/>
          </a:xfrm>
        </p:spPr>
        <p:txBody>
          <a:bodyPr>
            <a:normAutofit/>
          </a:bodyPr>
          <a:lstStyle/>
          <a:p>
            <a:r>
              <a:rPr lang="en-US" sz="2800" u="sng" dirty="0"/>
              <a:t>Step1: Prepare the RNA Sample List for Import into the </a:t>
            </a:r>
            <a:r>
              <a:rPr lang="en-US" sz="2800" u="sng" dirty="0" err="1"/>
              <a:t>OneLab</a:t>
            </a:r>
            <a:r>
              <a:rPr lang="en-US" sz="2800" u="sng" dirty="0"/>
              <a:t>  Nucleoside Digestion Protocol</a:t>
            </a:r>
          </a:p>
        </p:txBody>
      </p:sp>
      <p:sp>
        <p:nvSpPr>
          <p:cNvPr id="8" name="TextBox 7">
            <a:extLst>
              <a:ext uri="{FF2B5EF4-FFF2-40B4-BE49-F238E27FC236}">
                <a16:creationId xmlns:a16="http://schemas.microsoft.com/office/drawing/2014/main" id="{6747B105-0520-9279-0EDD-AA19BD4D9E68}"/>
              </a:ext>
            </a:extLst>
          </p:cNvPr>
          <p:cNvSpPr txBox="1"/>
          <p:nvPr/>
        </p:nvSpPr>
        <p:spPr>
          <a:xfrm>
            <a:off x="0" y="916087"/>
            <a:ext cx="12037925" cy="830997"/>
          </a:xfrm>
          <a:prstGeom prst="rect">
            <a:avLst/>
          </a:prstGeom>
          <a:noFill/>
        </p:spPr>
        <p:txBody>
          <a:bodyPr wrap="square" rtlCol="0">
            <a:spAutoFit/>
          </a:bodyPr>
          <a:lstStyle/>
          <a:p>
            <a:pPr marL="342900" indent="-342900">
              <a:buFont typeface="+mj-lt"/>
              <a:buAutoNum type="arabicPeriod"/>
            </a:pPr>
            <a:r>
              <a:rPr lang="en-US" sz="1200" b="1" dirty="0">
                <a:latin typeface="Arial" panose="020B0604020202020204" pitchFamily="34" charset="0"/>
                <a:cs typeface="Arial" panose="020B0604020202020204" pitchFamily="34" charset="0"/>
              </a:rPr>
              <a:t>Starting from the nanodrop values obtained from the nanodrop (single or 8000), run the </a:t>
            </a:r>
            <a:r>
              <a:rPr lang="en-US" sz="1200" b="1" dirty="0" err="1">
                <a:latin typeface="Arial" panose="020B0604020202020204" pitchFamily="34" charset="0"/>
                <a:cs typeface="Arial" panose="020B0604020202020204" pitchFamily="34" charset="0"/>
              </a:rPr>
              <a:t>jupyter</a:t>
            </a:r>
            <a:r>
              <a:rPr lang="en-US" sz="1200" b="1" dirty="0">
                <a:latin typeface="Arial" panose="020B0604020202020204" pitchFamily="34" charset="0"/>
                <a:cs typeface="Arial" panose="020B0604020202020204" pitchFamily="34" charset="0"/>
              </a:rPr>
              <a:t> notebook Nanodrop8000_report_formatter.ipynb in </a:t>
            </a:r>
            <a:r>
              <a:rPr lang="en-US" sz="1200" b="1" dirty="0" err="1">
                <a:latin typeface="Arial" panose="020B0604020202020204" pitchFamily="34" charset="0"/>
                <a:cs typeface="Arial" panose="020B0604020202020204" pitchFamily="34" charset="0"/>
              </a:rPr>
              <a:t>VSCode</a:t>
            </a:r>
            <a:r>
              <a:rPr lang="en-US" sz="1200" b="1" dirty="0">
                <a:latin typeface="Arial" panose="020B0604020202020204" pitchFamily="34" charset="0"/>
                <a:cs typeface="Arial" panose="020B0604020202020204" pitchFamily="34" charset="0"/>
              </a:rPr>
              <a:t> and follow the instructions outlined in the markdown sections to generate formatted sample sheet for source plate. </a:t>
            </a:r>
          </a:p>
          <a:p>
            <a:pPr marL="800100" lvl="1" indent="-342900">
              <a:buFont typeface="Arial" panose="020B0604020202020204" pitchFamily="34" charset="0"/>
              <a:buChar char="•"/>
            </a:pPr>
            <a:r>
              <a:rPr lang="en-US" sz="1200" dirty="0">
                <a:latin typeface="Arial" panose="020B0604020202020204" pitchFamily="34" charset="0"/>
                <a:cs typeface="Arial" panose="020B0604020202020204" pitchFamily="34" charset="0"/>
                <a:hlinkClick r:id="rId3"/>
              </a:rPr>
              <a:t>https://github.com/MSz999/Nucleoside_Digestion_Andrewplus/tree/main</a:t>
            </a:r>
            <a:r>
              <a:rPr lang="en-US" sz="1200" dirty="0">
                <a:latin typeface="Arial" panose="020B0604020202020204" pitchFamily="34" charset="0"/>
                <a:cs typeface="Arial" panose="020B0604020202020204" pitchFamily="34" charset="0"/>
              </a:rPr>
              <a:t>.</a:t>
            </a:r>
          </a:p>
          <a:p>
            <a:pPr marL="800100" lvl="1" indent="-342900">
              <a:buFont typeface="Arial" panose="020B0604020202020204" pitchFamily="34" charset="0"/>
              <a:buChar char="•"/>
            </a:pPr>
            <a:r>
              <a:rPr lang="en-US" sz="1200" dirty="0">
                <a:latin typeface="Arial" panose="020B0604020202020204" pitchFamily="34" charset="0"/>
                <a:cs typeface="Arial" panose="020B0604020202020204" pitchFamily="34" charset="0"/>
              </a:rPr>
              <a:t>Example template also available to fill out by hand (</a:t>
            </a:r>
            <a:r>
              <a:rPr lang="en-US" sz="1200" dirty="0" err="1">
                <a:latin typeface="Arial" panose="020B0604020202020204" pitchFamily="34" charset="0"/>
                <a:cs typeface="Arial" panose="020B0604020202020204" pitchFamily="34" charset="0"/>
              </a:rPr>
              <a:t>AndrewPlus_InitialPlate_Samplesheet_Template.xlsx</a:t>
            </a:r>
            <a:r>
              <a:rPr lang="en-US" sz="1200" dirty="0">
                <a:latin typeface="Arial" panose="020B0604020202020204" pitchFamily="34" charset="0"/>
                <a:cs typeface="Arial" panose="020B0604020202020204" pitchFamily="34" charset="0"/>
              </a:rPr>
              <a:t>)</a:t>
            </a:r>
          </a:p>
        </p:txBody>
      </p:sp>
      <p:sp>
        <p:nvSpPr>
          <p:cNvPr id="15" name="TextBox 14">
            <a:extLst>
              <a:ext uri="{FF2B5EF4-FFF2-40B4-BE49-F238E27FC236}">
                <a16:creationId xmlns:a16="http://schemas.microsoft.com/office/drawing/2014/main" id="{9A8AF9A5-1FC4-7F2A-350C-7C0C89585DF2}"/>
              </a:ext>
            </a:extLst>
          </p:cNvPr>
          <p:cNvSpPr txBox="1"/>
          <p:nvPr/>
        </p:nvSpPr>
        <p:spPr>
          <a:xfrm>
            <a:off x="6370447" y="4863991"/>
            <a:ext cx="5758800" cy="1815882"/>
          </a:xfrm>
          <a:prstGeom prst="rect">
            <a:avLst/>
          </a:prstGeom>
          <a:noFill/>
        </p:spPr>
        <p:txBody>
          <a:bodyPr wrap="square" rtlCol="0">
            <a:spAutoFit/>
          </a:bodyPr>
          <a:lstStyle/>
          <a:p>
            <a:r>
              <a:rPr lang="en-US" sz="1400" b="1" u="sng" dirty="0"/>
              <a:t>Columns Needed  for Andrew+</a:t>
            </a:r>
          </a:p>
          <a:p>
            <a:r>
              <a:rPr lang="en-US" sz="1400" b="1" dirty="0"/>
              <a:t>Position</a:t>
            </a:r>
            <a:r>
              <a:rPr lang="en-US" sz="1400" dirty="0"/>
              <a:t> = Plate well</a:t>
            </a:r>
          </a:p>
          <a:p>
            <a:r>
              <a:rPr lang="en-US" sz="1400" b="1" dirty="0"/>
              <a:t>Solution name </a:t>
            </a:r>
            <a:r>
              <a:rPr lang="en-US" sz="1400" dirty="0"/>
              <a:t>= Sample name</a:t>
            </a:r>
          </a:p>
          <a:p>
            <a:r>
              <a:rPr lang="en-US" sz="1400" b="1" dirty="0"/>
              <a:t>Concentration</a:t>
            </a:r>
            <a:r>
              <a:rPr lang="en-US" sz="1400" dirty="0"/>
              <a:t> = RNA concentration (In reality ng/ul but change it to M for </a:t>
            </a:r>
            <a:r>
              <a:rPr lang="en-US" sz="1400" dirty="0" err="1"/>
              <a:t>OneLab</a:t>
            </a:r>
            <a:r>
              <a:rPr lang="en-US" sz="1400" dirty="0"/>
              <a:t>)</a:t>
            </a:r>
          </a:p>
          <a:p>
            <a:r>
              <a:rPr lang="en-US" sz="1400" b="1" dirty="0"/>
              <a:t>Volume </a:t>
            </a:r>
            <a:r>
              <a:rPr lang="en-US" sz="1400" dirty="0"/>
              <a:t>= Volume of RNA in plate</a:t>
            </a:r>
          </a:p>
          <a:p>
            <a:r>
              <a:rPr lang="en-US" sz="1400" b="1" dirty="0"/>
              <a:t>Description </a:t>
            </a:r>
            <a:r>
              <a:rPr lang="en-US" sz="1400" dirty="0"/>
              <a:t>= Andrew+ Descriptor</a:t>
            </a:r>
          </a:p>
          <a:p>
            <a:r>
              <a:rPr lang="en-US" sz="1400" b="1" dirty="0"/>
              <a:t>Sample </a:t>
            </a:r>
            <a:r>
              <a:rPr lang="en-US" sz="1400" dirty="0"/>
              <a:t>= Andrew+ Descriptor</a:t>
            </a:r>
          </a:p>
        </p:txBody>
      </p:sp>
      <p:grpSp>
        <p:nvGrpSpPr>
          <p:cNvPr id="32" name="Group 31">
            <a:extLst>
              <a:ext uri="{FF2B5EF4-FFF2-40B4-BE49-F238E27FC236}">
                <a16:creationId xmlns:a16="http://schemas.microsoft.com/office/drawing/2014/main" id="{76D399CB-3CCB-4D3C-B649-7CEEBFD21D7B}"/>
              </a:ext>
            </a:extLst>
          </p:cNvPr>
          <p:cNvGrpSpPr/>
          <p:nvPr/>
        </p:nvGrpSpPr>
        <p:grpSpPr>
          <a:xfrm>
            <a:off x="225973" y="2086698"/>
            <a:ext cx="7826696" cy="2378901"/>
            <a:chOff x="0" y="1316236"/>
            <a:chExt cx="7826696" cy="2378901"/>
          </a:xfrm>
        </p:grpSpPr>
        <p:pic>
          <p:nvPicPr>
            <p:cNvPr id="22" name="Picture 21">
              <a:extLst>
                <a:ext uri="{FF2B5EF4-FFF2-40B4-BE49-F238E27FC236}">
                  <a16:creationId xmlns:a16="http://schemas.microsoft.com/office/drawing/2014/main" id="{4A9D601C-F8AE-F80D-1F21-A303E49481BA}"/>
                </a:ext>
              </a:extLst>
            </p:cNvPr>
            <p:cNvPicPr>
              <a:picLocks noChangeAspect="1"/>
            </p:cNvPicPr>
            <p:nvPr/>
          </p:nvPicPr>
          <p:blipFill>
            <a:blip r:embed="rId4"/>
            <a:stretch>
              <a:fillRect/>
            </a:stretch>
          </p:blipFill>
          <p:spPr>
            <a:xfrm>
              <a:off x="54296" y="1610011"/>
              <a:ext cx="7772400" cy="2085126"/>
            </a:xfrm>
            <a:prstGeom prst="rect">
              <a:avLst/>
            </a:prstGeom>
          </p:spPr>
        </p:pic>
        <p:sp>
          <p:nvSpPr>
            <p:cNvPr id="23" name="TextBox 22">
              <a:extLst>
                <a:ext uri="{FF2B5EF4-FFF2-40B4-BE49-F238E27FC236}">
                  <a16:creationId xmlns:a16="http://schemas.microsoft.com/office/drawing/2014/main" id="{AA5FC7E4-359A-A353-DD1D-E19327A7BDB7}"/>
                </a:ext>
              </a:extLst>
            </p:cNvPr>
            <p:cNvSpPr txBox="1"/>
            <p:nvPr/>
          </p:nvSpPr>
          <p:spPr>
            <a:xfrm>
              <a:off x="0" y="1316236"/>
              <a:ext cx="4808496" cy="338554"/>
            </a:xfrm>
            <a:prstGeom prst="rect">
              <a:avLst/>
            </a:prstGeom>
            <a:noFill/>
          </p:spPr>
          <p:txBody>
            <a:bodyPr wrap="none" rtlCol="0">
              <a:spAutoFit/>
            </a:bodyPr>
            <a:lstStyle/>
            <a:p>
              <a:r>
                <a:rPr lang="en-US" sz="1600" b="1" dirty="0"/>
                <a:t>Standard exported report from the Nanodrop 8000</a:t>
              </a:r>
            </a:p>
          </p:txBody>
        </p:sp>
      </p:grpSp>
      <p:cxnSp>
        <p:nvCxnSpPr>
          <p:cNvPr id="25" name="Straight Arrow Connector 24">
            <a:extLst>
              <a:ext uri="{FF2B5EF4-FFF2-40B4-BE49-F238E27FC236}">
                <a16:creationId xmlns:a16="http://schemas.microsoft.com/office/drawing/2014/main" id="{24DEEE92-5328-C2C0-DDE2-A97336DB40CC}"/>
              </a:ext>
            </a:extLst>
          </p:cNvPr>
          <p:cNvCxnSpPr>
            <a:cxnSpLocks/>
          </p:cNvCxnSpPr>
          <p:nvPr/>
        </p:nvCxnSpPr>
        <p:spPr>
          <a:xfrm>
            <a:off x="3785963" y="4478607"/>
            <a:ext cx="0" cy="52330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C4BE0B46-C795-CC9D-B5FB-11989E3F3CA0}"/>
              </a:ext>
            </a:extLst>
          </p:cNvPr>
          <p:cNvSpPr txBox="1"/>
          <p:nvPr/>
        </p:nvSpPr>
        <p:spPr>
          <a:xfrm>
            <a:off x="3882215" y="4559904"/>
            <a:ext cx="2741841" cy="276999"/>
          </a:xfrm>
          <a:prstGeom prst="rect">
            <a:avLst/>
          </a:prstGeom>
          <a:noFill/>
        </p:spPr>
        <p:txBody>
          <a:bodyPr wrap="none" rtlCol="0">
            <a:spAutoFit/>
          </a:bodyPr>
          <a:lstStyle/>
          <a:p>
            <a:r>
              <a:rPr lang="en-US" sz="1200" dirty="0"/>
              <a:t>Nanodrop8000_report_formatter.ipynb</a:t>
            </a:r>
          </a:p>
        </p:txBody>
      </p:sp>
      <p:grpSp>
        <p:nvGrpSpPr>
          <p:cNvPr id="31" name="Group 30">
            <a:extLst>
              <a:ext uri="{FF2B5EF4-FFF2-40B4-BE49-F238E27FC236}">
                <a16:creationId xmlns:a16="http://schemas.microsoft.com/office/drawing/2014/main" id="{9B562CE5-E54F-0762-2C40-18BC063C81A9}"/>
              </a:ext>
            </a:extLst>
          </p:cNvPr>
          <p:cNvGrpSpPr/>
          <p:nvPr/>
        </p:nvGrpSpPr>
        <p:grpSpPr>
          <a:xfrm>
            <a:off x="181358" y="4918200"/>
            <a:ext cx="6086319" cy="1338828"/>
            <a:chOff x="205943" y="4584694"/>
            <a:chExt cx="6086319" cy="1338828"/>
          </a:xfrm>
        </p:grpSpPr>
        <p:pic>
          <p:nvPicPr>
            <p:cNvPr id="13" name="Picture 12">
              <a:extLst>
                <a:ext uri="{FF2B5EF4-FFF2-40B4-BE49-F238E27FC236}">
                  <a16:creationId xmlns:a16="http://schemas.microsoft.com/office/drawing/2014/main" id="{9B2BD4E2-94D2-840A-1012-3DD1B0962C59}"/>
                </a:ext>
              </a:extLst>
            </p:cNvPr>
            <p:cNvPicPr>
              <a:picLocks noChangeAspect="1"/>
            </p:cNvPicPr>
            <p:nvPr/>
          </p:nvPicPr>
          <p:blipFill>
            <a:blip r:embed="rId5"/>
            <a:stretch>
              <a:fillRect/>
            </a:stretch>
          </p:blipFill>
          <p:spPr>
            <a:xfrm>
              <a:off x="250558" y="4823143"/>
              <a:ext cx="6041704" cy="1100379"/>
            </a:xfrm>
            <a:prstGeom prst="rect">
              <a:avLst/>
            </a:prstGeom>
          </p:spPr>
        </p:pic>
        <p:sp>
          <p:nvSpPr>
            <p:cNvPr id="27" name="TextBox 26">
              <a:extLst>
                <a:ext uri="{FF2B5EF4-FFF2-40B4-BE49-F238E27FC236}">
                  <a16:creationId xmlns:a16="http://schemas.microsoft.com/office/drawing/2014/main" id="{92CC64F2-65DC-2BE9-2A1F-84195888782C}"/>
                </a:ext>
              </a:extLst>
            </p:cNvPr>
            <p:cNvSpPr txBox="1"/>
            <p:nvPr/>
          </p:nvSpPr>
          <p:spPr>
            <a:xfrm>
              <a:off x="205943" y="4584694"/>
              <a:ext cx="4376198" cy="338554"/>
            </a:xfrm>
            <a:prstGeom prst="rect">
              <a:avLst/>
            </a:prstGeom>
            <a:noFill/>
          </p:spPr>
          <p:txBody>
            <a:bodyPr wrap="none" rtlCol="0">
              <a:spAutoFit/>
            </a:bodyPr>
            <a:lstStyle/>
            <a:p>
              <a:r>
                <a:rPr lang="en-US" sz="1600" b="1" dirty="0"/>
                <a:t>Andrew+ ready sample sheet for source plate</a:t>
              </a:r>
            </a:p>
          </p:txBody>
        </p:sp>
      </p:grpSp>
      <p:pic>
        <p:nvPicPr>
          <p:cNvPr id="30" name="Picture 29">
            <a:extLst>
              <a:ext uri="{FF2B5EF4-FFF2-40B4-BE49-F238E27FC236}">
                <a16:creationId xmlns:a16="http://schemas.microsoft.com/office/drawing/2014/main" id="{E3190B30-9866-2B8B-6B05-064AF7B0359E}"/>
              </a:ext>
            </a:extLst>
          </p:cNvPr>
          <p:cNvPicPr>
            <a:picLocks noChangeAspect="1"/>
          </p:cNvPicPr>
          <p:nvPr/>
        </p:nvPicPr>
        <p:blipFill>
          <a:blip r:embed="rId6"/>
          <a:stretch>
            <a:fillRect/>
          </a:stretch>
        </p:blipFill>
        <p:spPr>
          <a:xfrm>
            <a:off x="9593121" y="1747084"/>
            <a:ext cx="1950319" cy="1950319"/>
          </a:xfrm>
          <a:prstGeom prst="rect">
            <a:avLst/>
          </a:prstGeom>
        </p:spPr>
      </p:pic>
      <p:sp>
        <p:nvSpPr>
          <p:cNvPr id="34" name="TextBox 33">
            <a:extLst>
              <a:ext uri="{FF2B5EF4-FFF2-40B4-BE49-F238E27FC236}">
                <a16:creationId xmlns:a16="http://schemas.microsoft.com/office/drawing/2014/main" id="{006EFE0E-186F-FC92-C842-2A4A424FF899}"/>
              </a:ext>
            </a:extLst>
          </p:cNvPr>
          <p:cNvSpPr txBox="1"/>
          <p:nvPr/>
        </p:nvSpPr>
        <p:spPr>
          <a:xfrm>
            <a:off x="9691012" y="3600164"/>
            <a:ext cx="1802096" cy="369332"/>
          </a:xfrm>
          <a:prstGeom prst="rect">
            <a:avLst/>
          </a:prstGeom>
          <a:noFill/>
        </p:spPr>
        <p:txBody>
          <a:bodyPr wrap="none" rtlCol="0">
            <a:spAutoFit/>
          </a:bodyPr>
          <a:lstStyle/>
          <a:p>
            <a:r>
              <a:rPr lang="en-US" dirty="0" err="1"/>
              <a:t>Github</a:t>
            </a:r>
            <a:r>
              <a:rPr lang="en-US" dirty="0"/>
              <a:t> QR Code</a:t>
            </a:r>
          </a:p>
        </p:txBody>
      </p:sp>
    </p:spTree>
    <p:extLst>
      <p:ext uri="{BB962C8B-B14F-4D97-AF65-F5344CB8AC3E}">
        <p14:creationId xmlns:p14="http://schemas.microsoft.com/office/powerpoint/2010/main" val="2068818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F5B97-F647-9DEC-2B38-1138ED227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8D615-6D1E-8D98-BF93-ED0951441F34}"/>
              </a:ext>
            </a:extLst>
          </p:cNvPr>
          <p:cNvSpPr>
            <a:spLocks noGrp="1"/>
          </p:cNvSpPr>
          <p:nvPr>
            <p:ph type="title"/>
          </p:nvPr>
        </p:nvSpPr>
        <p:spPr>
          <a:xfrm>
            <a:off x="0" y="-375612"/>
            <a:ext cx="12129247" cy="1325563"/>
          </a:xfrm>
        </p:spPr>
        <p:txBody>
          <a:bodyPr>
            <a:normAutofit/>
          </a:bodyPr>
          <a:lstStyle/>
          <a:p>
            <a:r>
              <a:rPr lang="en-US" sz="2800" u="sng" dirty="0"/>
              <a:t>Step2: Open the </a:t>
            </a:r>
            <a:r>
              <a:rPr lang="en-US" sz="2800" u="sng" dirty="0" err="1"/>
              <a:t>OneLab</a:t>
            </a:r>
            <a:r>
              <a:rPr lang="en-US" sz="2800" u="sng" dirty="0"/>
              <a:t> Nucleoside Digestion Protocol for Editing</a:t>
            </a:r>
          </a:p>
        </p:txBody>
      </p:sp>
      <p:sp>
        <p:nvSpPr>
          <p:cNvPr id="17" name="TextBox 16">
            <a:extLst>
              <a:ext uri="{FF2B5EF4-FFF2-40B4-BE49-F238E27FC236}">
                <a16:creationId xmlns:a16="http://schemas.microsoft.com/office/drawing/2014/main" id="{55D67038-A7C5-B1CD-1C0A-745083FE978F}"/>
              </a:ext>
            </a:extLst>
          </p:cNvPr>
          <p:cNvSpPr txBox="1"/>
          <p:nvPr/>
        </p:nvSpPr>
        <p:spPr>
          <a:xfrm>
            <a:off x="62753" y="445585"/>
            <a:ext cx="10902042" cy="954107"/>
          </a:xfrm>
          <a:prstGeom prst="rect">
            <a:avLst/>
          </a:prstGeom>
          <a:noFill/>
        </p:spPr>
        <p:txBody>
          <a:bodyPr wrap="square">
            <a:spAutoFit/>
          </a:bodyPr>
          <a:lstStyle/>
          <a:p>
            <a:pPr marL="342900" indent="-342900">
              <a:buAutoNum type="arabicPeriod" startAt="2"/>
            </a:pPr>
            <a:r>
              <a:rPr lang="en-US" sz="1400" b="1" dirty="0"/>
              <a:t>Open </a:t>
            </a:r>
            <a:r>
              <a:rPr lang="en-US" sz="1400" b="1" dirty="0" err="1"/>
              <a:t>Onelab</a:t>
            </a:r>
            <a:r>
              <a:rPr lang="en-US" sz="1400" b="1" dirty="0"/>
              <a:t> protocol: </a:t>
            </a:r>
            <a:r>
              <a:rPr lang="en-US" sz="1400" b="1" dirty="0" err="1"/>
              <a:t>Nucleoside_Digestion_Template</a:t>
            </a:r>
            <a:r>
              <a:rPr lang="en-US" sz="1400" b="1" dirty="0"/>
              <a:t> </a:t>
            </a:r>
          </a:p>
          <a:p>
            <a:pPr marL="742950" lvl="1" indent="-285750">
              <a:buFont typeface="Arial" panose="020B0604020202020204" pitchFamily="34" charset="0"/>
              <a:buChar char="•"/>
            </a:pPr>
            <a:r>
              <a:rPr lang="en-US" sz="1400" dirty="0"/>
              <a:t>https://</a:t>
            </a:r>
            <a:r>
              <a:rPr lang="en-US" sz="1400" dirty="0" err="1"/>
              <a:t>onelab.andrewalliance.com</a:t>
            </a:r>
            <a:r>
              <a:rPr lang="en-US" sz="1400" dirty="0"/>
              <a:t>/</a:t>
            </a:r>
          </a:p>
          <a:p>
            <a:pPr marL="742950" lvl="1" indent="-285750">
              <a:buFont typeface="Arial" panose="020B0604020202020204" pitchFamily="34" charset="0"/>
              <a:buChar char="•"/>
            </a:pPr>
            <a:r>
              <a:rPr lang="en-US" sz="1400" dirty="0"/>
              <a:t>Located in the Correa Lab home directory</a:t>
            </a:r>
          </a:p>
          <a:p>
            <a:pPr marL="1200150" lvl="2" indent="-285750">
              <a:buFont typeface="Arial" panose="020B0604020202020204" pitchFamily="34" charset="0"/>
              <a:buChar char="•"/>
            </a:pPr>
            <a:r>
              <a:rPr lang="en-US" sz="1400" dirty="0"/>
              <a:t>Projects/Automation Templates/</a:t>
            </a:r>
            <a:r>
              <a:rPr lang="en-US" sz="1400" dirty="0" err="1"/>
              <a:t>Nucleoside_Digestion_Template</a:t>
            </a:r>
            <a:endParaRPr lang="en-US" sz="1400" dirty="0"/>
          </a:p>
        </p:txBody>
      </p:sp>
      <p:sp>
        <p:nvSpPr>
          <p:cNvPr id="21" name="TextBox 20">
            <a:extLst>
              <a:ext uri="{FF2B5EF4-FFF2-40B4-BE49-F238E27FC236}">
                <a16:creationId xmlns:a16="http://schemas.microsoft.com/office/drawing/2014/main" id="{123A5983-2719-6CE9-7316-BD609F2F911D}"/>
              </a:ext>
            </a:extLst>
          </p:cNvPr>
          <p:cNvSpPr txBox="1"/>
          <p:nvPr/>
        </p:nvSpPr>
        <p:spPr>
          <a:xfrm>
            <a:off x="7568899" y="1192101"/>
            <a:ext cx="4510243" cy="2031325"/>
          </a:xfrm>
          <a:prstGeom prst="rect">
            <a:avLst/>
          </a:prstGeom>
          <a:noFill/>
        </p:spPr>
        <p:txBody>
          <a:bodyPr wrap="square" rtlCol="0">
            <a:spAutoFit/>
          </a:bodyPr>
          <a:lstStyle/>
          <a:p>
            <a:r>
              <a:rPr lang="en-US" sz="1400" b="1" dirty="0"/>
              <a:t>Nucleoside Digestion Steps:</a:t>
            </a:r>
          </a:p>
          <a:p>
            <a:pPr marL="342900" indent="-342900">
              <a:buAutoNum type="arabicPeriod"/>
            </a:pPr>
            <a:r>
              <a:rPr lang="en-US" sz="1400" dirty="0"/>
              <a:t>Cool down 96well destination plate to 4C</a:t>
            </a:r>
          </a:p>
          <a:p>
            <a:pPr marL="342900" indent="-342900">
              <a:buAutoNum type="arabicPeriod"/>
            </a:pPr>
            <a:r>
              <a:rPr lang="en-US" sz="1400" dirty="0"/>
              <a:t>Dilute RNA into target plate with nuclease free H2O (26uL total)</a:t>
            </a:r>
          </a:p>
          <a:p>
            <a:pPr marL="342900" indent="-342900">
              <a:buAutoNum type="arabicPeriod"/>
            </a:pPr>
            <a:r>
              <a:rPr lang="en-US" sz="1400" dirty="0"/>
              <a:t>Add 3uL 10x Nucleoside Digestion Buffer</a:t>
            </a:r>
          </a:p>
          <a:p>
            <a:pPr marL="342900" indent="-342900">
              <a:buAutoNum type="arabicPeriod"/>
            </a:pPr>
            <a:r>
              <a:rPr lang="en-US" sz="1400" dirty="0"/>
              <a:t>Add 1uL Nucleoside Digestion Mix</a:t>
            </a:r>
          </a:p>
          <a:p>
            <a:pPr marL="342900" indent="-342900">
              <a:buAutoNum type="arabicPeriod"/>
            </a:pPr>
            <a:r>
              <a:rPr lang="en-US" sz="1400" dirty="0"/>
              <a:t>Stop cooling the 96 well destination plate</a:t>
            </a:r>
          </a:p>
          <a:p>
            <a:pPr marL="342900" indent="-342900">
              <a:buAutoNum type="arabicPeriod"/>
            </a:pPr>
            <a:r>
              <a:rPr lang="en-US" sz="1400" dirty="0"/>
              <a:t>End</a:t>
            </a:r>
          </a:p>
          <a:p>
            <a:pPr marL="342900" indent="-342900">
              <a:buAutoNum type="arabicPeriod"/>
            </a:pPr>
            <a:endParaRPr lang="en-US" sz="1400" dirty="0"/>
          </a:p>
        </p:txBody>
      </p:sp>
      <p:sp>
        <p:nvSpPr>
          <p:cNvPr id="3" name="TextBox 2">
            <a:extLst>
              <a:ext uri="{FF2B5EF4-FFF2-40B4-BE49-F238E27FC236}">
                <a16:creationId xmlns:a16="http://schemas.microsoft.com/office/drawing/2014/main" id="{CEF0D1BC-F205-AE73-88DF-89DB5C773A89}"/>
              </a:ext>
            </a:extLst>
          </p:cNvPr>
          <p:cNvSpPr txBox="1"/>
          <p:nvPr/>
        </p:nvSpPr>
        <p:spPr>
          <a:xfrm>
            <a:off x="7568899" y="3491918"/>
            <a:ext cx="4510243" cy="2031325"/>
          </a:xfrm>
          <a:prstGeom prst="rect">
            <a:avLst/>
          </a:prstGeom>
          <a:noFill/>
        </p:spPr>
        <p:txBody>
          <a:bodyPr wrap="square" rtlCol="0">
            <a:spAutoFit/>
          </a:bodyPr>
          <a:lstStyle/>
          <a:p>
            <a:r>
              <a:rPr lang="en-US" sz="1400" b="1" dirty="0"/>
              <a:t>Notes:</a:t>
            </a:r>
          </a:p>
          <a:p>
            <a:pPr marL="342900" indent="-342900">
              <a:buFont typeface="Arial" panose="020B0604020202020204" pitchFamily="34" charset="0"/>
              <a:buChar char="•"/>
            </a:pPr>
            <a:r>
              <a:rPr lang="en-US" sz="1400" dirty="0"/>
              <a:t>Edit or duplicate protocol steps directly since they contain consumable specific parameter optimization. </a:t>
            </a:r>
          </a:p>
          <a:p>
            <a:pPr marL="800100" lvl="1" indent="-342900">
              <a:buFont typeface="Arial" panose="020B0604020202020204" pitchFamily="34" charset="0"/>
              <a:buChar char="•"/>
            </a:pPr>
            <a:r>
              <a:rPr lang="en-US" sz="1400" dirty="0"/>
              <a:t>Click on (:) -&gt; Edit</a:t>
            </a:r>
          </a:p>
          <a:p>
            <a:pPr marL="342900" indent="-342900">
              <a:buFont typeface="Arial" panose="020B0604020202020204" pitchFamily="34" charset="0"/>
              <a:buChar char="•"/>
            </a:pPr>
            <a:r>
              <a:rPr lang="en-US" sz="1400" dirty="0"/>
              <a:t>Add 1.25x the amount of reagent required to account for loss+ dead volume*</a:t>
            </a:r>
          </a:p>
          <a:p>
            <a:pPr marL="342900" indent="-342900">
              <a:buFont typeface="Arial" panose="020B0604020202020204" pitchFamily="34" charset="0"/>
              <a:buChar char="•"/>
            </a:pPr>
            <a:r>
              <a:rPr lang="en-US" sz="1400" dirty="0"/>
              <a:t>Put the passive cooling 1.5mL domino ice pack in the freezer 8hrs before</a:t>
            </a:r>
          </a:p>
        </p:txBody>
      </p:sp>
      <p:grpSp>
        <p:nvGrpSpPr>
          <p:cNvPr id="6" name="Group 5">
            <a:extLst>
              <a:ext uri="{FF2B5EF4-FFF2-40B4-BE49-F238E27FC236}">
                <a16:creationId xmlns:a16="http://schemas.microsoft.com/office/drawing/2014/main" id="{8A1801D1-9D6E-351D-D5DB-D3F413F08635}"/>
              </a:ext>
            </a:extLst>
          </p:cNvPr>
          <p:cNvGrpSpPr/>
          <p:nvPr/>
        </p:nvGrpSpPr>
        <p:grpSpPr>
          <a:xfrm>
            <a:off x="215816" y="1431678"/>
            <a:ext cx="7129900" cy="4120479"/>
            <a:chOff x="186775" y="893113"/>
            <a:chExt cx="7129900" cy="4120479"/>
          </a:xfrm>
        </p:grpSpPr>
        <p:pic>
          <p:nvPicPr>
            <p:cNvPr id="20" name="Picture 19">
              <a:extLst>
                <a:ext uri="{FF2B5EF4-FFF2-40B4-BE49-F238E27FC236}">
                  <a16:creationId xmlns:a16="http://schemas.microsoft.com/office/drawing/2014/main" id="{E07CC731-F21B-7924-74D2-3E18DFBE22CD}"/>
                </a:ext>
              </a:extLst>
            </p:cNvPr>
            <p:cNvPicPr>
              <a:picLocks noChangeAspect="1"/>
            </p:cNvPicPr>
            <p:nvPr/>
          </p:nvPicPr>
          <p:blipFill>
            <a:blip r:embed="rId3"/>
            <a:stretch>
              <a:fillRect/>
            </a:stretch>
          </p:blipFill>
          <p:spPr>
            <a:xfrm>
              <a:off x="186775" y="1199525"/>
              <a:ext cx="7129900" cy="3814067"/>
            </a:xfrm>
            <a:prstGeom prst="rect">
              <a:avLst/>
            </a:prstGeom>
            <a:ln>
              <a:solidFill>
                <a:schemeClr val="tx1"/>
              </a:solidFill>
            </a:ln>
          </p:spPr>
        </p:pic>
        <p:sp>
          <p:nvSpPr>
            <p:cNvPr id="4" name="TextBox 3">
              <a:extLst>
                <a:ext uri="{FF2B5EF4-FFF2-40B4-BE49-F238E27FC236}">
                  <a16:creationId xmlns:a16="http://schemas.microsoft.com/office/drawing/2014/main" id="{9A15E97F-034F-4AAA-C274-B08B123CD709}"/>
                </a:ext>
              </a:extLst>
            </p:cNvPr>
            <p:cNvSpPr txBox="1"/>
            <p:nvPr/>
          </p:nvSpPr>
          <p:spPr>
            <a:xfrm>
              <a:off x="2210350" y="903501"/>
              <a:ext cx="2237216" cy="369332"/>
            </a:xfrm>
            <a:prstGeom prst="rect">
              <a:avLst/>
            </a:prstGeom>
            <a:noFill/>
          </p:spPr>
          <p:txBody>
            <a:bodyPr wrap="none" rtlCol="0">
              <a:spAutoFit/>
            </a:bodyPr>
            <a:lstStyle/>
            <a:p>
              <a:r>
                <a:rPr lang="en-US" dirty="0"/>
                <a:t>Designer Workspace</a:t>
              </a:r>
            </a:p>
          </p:txBody>
        </p:sp>
        <p:sp>
          <p:nvSpPr>
            <p:cNvPr id="5" name="TextBox 4">
              <a:extLst>
                <a:ext uri="{FF2B5EF4-FFF2-40B4-BE49-F238E27FC236}">
                  <a16:creationId xmlns:a16="http://schemas.microsoft.com/office/drawing/2014/main" id="{2499E38D-8C40-C565-B2EE-F949B3DA2BA6}"/>
                </a:ext>
              </a:extLst>
            </p:cNvPr>
            <p:cNvSpPr txBox="1"/>
            <p:nvPr/>
          </p:nvSpPr>
          <p:spPr>
            <a:xfrm>
              <a:off x="5677765" y="893113"/>
              <a:ext cx="1638910" cy="369332"/>
            </a:xfrm>
            <a:prstGeom prst="rect">
              <a:avLst/>
            </a:prstGeom>
            <a:noFill/>
          </p:spPr>
          <p:txBody>
            <a:bodyPr wrap="none" rtlCol="0">
              <a:spAutoFit/>
            </a:bodyPr>
            <a:lstStyle/>
            <a:p>
              <a:r>
                <a:rPr lang="en-US" dirty="0"/>
                <a:t>Protocol Steps</a:t>
              </a:r>
            </a:p>
          </p:txBody>
        </p:sp>
      </p:grpSp>
      <p:sp>
        <p:nvSpPr>
          <p:cNvPr id="7" name="TextBox 6">
            <a:extLst>
              <a:ext uri="{FF2B5EF4-FFF2-40B4-BE49-F238E27FC236}">
                <a16:creationId xmlns:a16="http://schemas.microsoft.com/office/drawing/2014/main" id="{36CD4AC3-1F8E-71C9-A81F-BC455213CDE8}"/>
              </a:ext>
            </a:extLst>
          </p:cNvPr>
          <p:cNvSpPr txBox="1"/>
          <p:nvPr/>
        </p:nvSpPr>
        <p:spPr>
          <a:xfrm>
            <a:off x="8922619" y="6673334"/>
            <a:ext cx="3348994" cy="184666"/>
          </a:xfrm>
          <a:prstGeom prst="rect">
            <a:avLst/>
          </a:prstGeom>
          <a:noFill/>
        </p:spPr>
        <p:txBody>
          <a:bodyPr wrap="none" rtlCol="0">
            <a:spAutoFit/>
          </a:bodyPr>
          <a:lstStyle/>
          <a:p>
            <a:r>
              <a:rPr lang="en-US" sz="600" dirty="0"/>
              <a:t>*There is no set percentage and is dependent on what consumables and pipettes are being used</a:t>
            </a:r>
          </a:p>
        </p:txBody>
      </p:sp>
    </p:spTree>
    <p:extLst>
      <p:ext uri="{BB962C8B-B14F-4D97-AF65-F5344CB8AC3E}">
        <p14:creationId xmlns:p14="http://schemas.microsoft.com/office/powerpoint/2010/main" val="1884064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34B3D-4089-841A-1EC8-9F7C13430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1025C-E9F2-7D3F-984D-993108A6C14B}"/>
              </a:ext>
            </a:extLst>
          </p:cNvPr>
          <p:cNvSpPr>
            <a:spLocks noGrp="1"/>
          </p:cNvSpPr>
          <p:nvPr>
            <p:ph type="title"/>
          </p:nvPr>
        </p:nvSpPr>
        <p:spPr>
          <a:xfrm>
            <a:off x="0" y="-375612"/>
            <a:ext cx="12129247" cy="1325563"/>
          </a:xfrm>
        </p:spPr>
        <p:txBody>
          <a:bodyPr>
            <a:normAutofit/>
          </a:bodyPr>
          <a:lstStyle/>
          <a:p>
            <a:r>
              <a:rPr lang="en-US" sz="2800" u="sng" dirty="0"/>
              <a:t>Step3-4: Setting Initial Reagent and RNA Volumes in Plates + Tubes</a:t>
            </a:r>
          </a:p>
        </p:txBody>
      </p:sp>
      <p:sp>
        <p:nvSpPr>
          <p:cNvPr id="17" name="TextBox 16">
            <a:extLst>
              <a:ext uri="{FF2B5EF4-FFF2-40B4-BE49-F238E27FC236}">
                <a16:creationId xmlns:a16="http://schemas.microsoft.com/office/drawing/2014/main" id="{B46800D8-C1E1-9E94-F2EA-15789EEFBC6B}"/>
              </a:ext>
            </a:extLst>
          </p:cNvPr>
          <p:cNvSpPr txBox="1"/>
          <p:nvPr/>
        </p:nvSpPr>
        <p:spPr>
          <a:xfrm>
            <a:off x="-27186" y="640207"/>
            <a:ext cx="10902042" cy="276999"/>
          </a:xfrm>
          <a:prstGeom prst="rect">
            <a:avLst/>
          </a:prstGeom>
          <a:noFill/>
        </p:spPr>
        <p:txBody>
          <a:bodyPr wrap="square">
            <a:spAutoFit/>
          </a:bodyPr>
          <a:lstStyle/>
          <a:p>
            <a:r>
              <a:rPr lang="en-US" sz="1200" b="1" dirty="0"/>
              <a:t>3.  Click on each of the Eppendorf tubes to set the initial fill volume for each of the three reagents. </a:t>
            </a:r>
          </a:p>
        </p:txBody>
      </p:sp>
      <p:pic>
        <p:nvPicPr>
          <p:cNvPr id="10" name="Picture 9">
            <a:extLst>
              <a:ext uri="{FF2B5EF4-FFF2-40B4-BE49-F238E27FC236}">
                <a16:creationId xmlns:a16="http://schemas.microsoft.com/office/drawing/2014/main" id="{563A16C1-BA4E-2E88-AE67-BCC20AE82843}"/>
              </a:ext>
            </a:extLst>
          </p:cNvPr>
          <p:cNvPicPr>
            <a:picLocks noChangeAspect="1"/>
          </p:cNvPicPr>
          <p:nvPr/>
        </p:nvPicPr>
        <p:blipFill>
          <a:blip r:embed="rId3"/>
          <a:stretch>
            <a:fillRect/>
          </a:stretch>
        </p:blipFill>
        <p:spPr>
          <a:xfrm>
            <a:off x="4147711" y="3890820"/>
            <a:ext cx="3370289" cy="1548570"/>
          </a:xfrm>
          <a:prstGeom prst="rect">
            <a:avLst/>
          </a:prstGeom>
          <a:ln>
            <a:solidFill>
              <a:schemeClr val="tx1"/>
            </a:solidFill>
          </a:ln>
        </p:spPr>
      </p:pic>
      <p:pic>
        <p:nvPicPr>
          <p:cNvPr id="11" name="Picture 10">
            <a:extLst>
              <a:ext uri="{FF2B5EF4-FFF2-40B4-BE49-F238E27FC236}">
                <a16:creationId xmlns:a16="http://schemas.microsoft.com/office/drawing/2014/main" id="{C99263F7-0A17-4A57-8AFE-0367D7193BF3}"/>
              </a:ext>
            </a:extLst>
          </p:cNvPr>
          <p:cNvPicPr>
            <a:picLocks noChangeAspect="1"/>
          </p:cNvPicPr>
          <p:nvPr/>
        </p:nvPicPr>
        <p:blipFill>
          <a:blip r:embed="rId4"/>
          <a:srcRect t="3444" r="6214" b="3941"/>
          <a:stretch>
            <a:fillRect/>
          </a:stretch>
        </p:blipFill>
        <p:spPr>
          <a:xfrm>
            <a:off x="7615851" y="4665743"/>
            <a:ext cx="4296180" cy="2085436"/>
          </a:xfrm>
          <a:prstGeom prst="rect">
            <a:avLst/>
          </a:prstGeom>
          <a:ln>
            <a:solidFill>
              <a:schemeClr val="tx1"/>
            </a:solidFill>
          </a:ln>
        </p:spPr>
      </p:pic>
      <p:pic>
        <p:nvPicPr>
          <p:cNvPr id="23" name="Picture 22">
            <a:extLst>
              <a:ext uri="{FF2B5EF4-FFF2-40B4-BE49-F238E27FC236}">
                <a16:creationId xmlns:a16="http://schemas.microsoft.com/office/drawing/2014/main" id="{E8480872-FC4A-5997-103D-C5C3B7D749A8}"/>
              </a:ext>
            </a:extLst>
          </p:cNvPr>
          <p:cNvPicPr>
            <a:picLocks noChangeAspect="1"/>
          </p:cNvPicPr>
          <p:nvPr/>
        </p:nvPicPr>
        <p:blipFill>
          <a:blip r:embed="rId5"/>
          <a:stretch>
            <a:fillRect/>
          </a:stretch>
        </p:blipFill>
        <p:spPr>
          <a:xfrm>
            <a:off x="5722342" y="935849"/>
            <a:ext cx="2124855" cy="1947784"/>
          </a:xfrm>
          <a:prstGeom prst="rect">
            <a:avLst/>
          </a:prstGeom>
          <a:ln>
            <a:solidFill>
              <a:schemeClr val="tx1"/>
            </a:solidFill>
          </a:ln>
        </p:spPr>
      </p:pic>
      <p:grpSp>
        <p:nvGrpSpPr>
          <p:cNvPr id="27" name="Group 26">
            <a:extLst>
              <a:ext uri="{FF2B5EF4-FFF2-40B4-BE49-F238E27FC236}">
                <a16:creationId xmlns:a16="http://schemas.microsoft.com/office/drawing/2014/main" id="{EAFCE7C7-7B90-3AAD-66CC-8AC946075F18}"/>
              </a:ext>
            </a:extLst>
          </p:cNvPr>
          <p:cNvGrpSpPr/>
          <p:nvPr/>
        </p:nvGrpSpPr>
        <p:grpSpPr>
          <a:xfrm>
            <a:off x="99004" y="935849"/>
            <a:ext cx="4989307" cy="2138025"/>
            <a:chOff x="140425" y="967059"/>
            <a:chExt cx="4989307" cy="2138025"/>
          </a:xfrm>
        </p:grpSpPr>
        <p:pic>
          <p:nvPicPr>
            <p:cNvPr id="9" name="Picture 8">
              <a:extLst>
                <a:ext uri="{FF2B5EF4-FFF2-40B4-BE49-F238E27FC236}">
                  <a16:creationId xmlns:a16="http://schemas.microsoft.com/office/drawing/2014/main" id="{E7959F53-6CFE-BCF1-EE75-60772EA7FEC7}"/>
                </a:ext>
              </a:extLst>
            </p:cNvPr>
            <p:cNvPicPr>
              <a:picLocks noChangeAspect="1"/>
            </p:cNvPicPr>
            <p:nvPr/>
          </p:nvPicPr>
          <p:blipFill>
            <a:blip r:embed="rId6"/>
            <a:srcRect t="5622" r="4345" b="10796"/>
            <a:stretch>
              <a:fillRect/>
            </a:stretch>
          </p:blipFill>
          <p:spPr>
            <a:xfrm>
              <a:off x="140425" y="1008734"/>
              <a:ext cx="4989307" cy="2096350"/>
            </a:xfrm>
            <a:prstGeom prst="rect">
              <a:avLst/>
            </a:prstGeom>
            <a:ln>
              <a:solidFill>
                <a:schemeClr val="tx1"/>
              </a:solidFill>
            </a:ln>
          </p:spPr>
        </p:pic>
        <p:sp>
          <p:nvSpPr>
            <p:cNvPr id="14" name="Rectangle 13">
              <a:extLst>
                <a:ext uri="{FF2B5EF4-FFF2-40B4-BE49-F238E27FC236}">
                  <a16:creationId xmlns:a16="http://schemas.microsoft.com/office/drawing/2014/main" id="{B41CFEA7-1F2D-7838-76DE-0C2E88C50386}"/>
                </a:ext>
              </a:extLst>
            </p:cNvPr>
            <p:cNvSpPr/>
            <p:nvPr/>
          </p:nvSpPr>
          <p:spPr>
            <a:xfrm>
              <a:off x="628490" y="1007613"/>
              <a:ext cx="598715" cy="6383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0F06F6A-B52F-EFF3-788F-ED9A0DE3EDB9}"/>
                </a:ext>
              </a:extLst>
            </p:cNvPr>
            <p:cNvSpPr/>
            <p:nvPr/>
          </p:nvSpPr>
          <p:spPr>
            <a:xfrm>
              <a:off x="2093322" y="1017238"/>
              <a:ext cx="823133" cy="6383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87F0E2F-89AB-B394-A70B-0202413D1A2F}"/>
                </a:ext>
              </a:extLst>
            </p:cNvPr>
            <p:cNvSpPr/>
            <p:nvPr/>
          </p:nvSpPr>
          <p:spPr>
            <a:xfrm>
              <a:off x="4306599" y="2102966"/>
              <a:ext cx="823133" cy="6383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AA0C135-2E6F-4254-D4DA-3BC2F7329704}"/>
                </a:ext>
              </a:extLst>
            </p:cNvPr>
            <p:cNvSpPr txBox="1"/>
            <p:nvPr/>
          </p:nvSpPr>
          <p:spPr>
            <a:xfrm>
              <a:off x="281691" y="967567"/>
              <a:ext cx="373820" cy="369332"/>
            </a:xfrm>
            <a:prstGeom prst="rect">
              <a:avLst/>
            </a:prstGeom>
            <a:noFill/>
          </p:spPr>
          <p:txBody>
            <a:bodyPr wrap="none" rtlCol="0">
              <a:spAutoFit/>
            </a:bodyPr>
            <a:lstStyle/>
            <a:p>
              <a:r>
                <a:rPr lang="en-US" dirty="0"/>
                <a:t>1.</a:t>
              </a:r>
            </a:p>
          </p:txBody>
        </p:sp>
        <p:sp>
          <p:nvSpPr>
            <p:cNvPr id="25" name="TextBox 24">
              <a:extLst>
                <a:ext uri="{FF2B5EF4-FFF2-40B4-BE49-F238E27FC236}">
                  <a16:creationId xmlns:a16="http://schemas.microsoft.com/office/drawing/2014/main" id="{8F088873-886B-A166-4820-31CC6BC537EA}"/>
                </a:ext>
              </a:extLst>
            </p:cNvPr>
            <p:cNvSpPr txBox="1"/>
            <p:nvPr/>
          </p:nvSpPr>
          <p:spPr>
            <a:xfrm>
              <a:off x="1806788" y="967059"/>
              <a:ext cx="373820" cy="369332"/>
            </a:xfrm>
            <a:prstGeom prst="rect">
              <a:avLst/>
            </a:prstGeom>
            <a:noFill/>
          </p:spPr>
          <p:txBody>
            <a:bodyPr wrap="none" rtlCol="0">
              <a:spAutoFit/>
            </a:bodyPr>
            <a:lstStyle/>
            <a:p>
              <a:r>
                <a:rPr lang="en-US" dirty="0"/>
                <a:t>2.</a:t>
              </a:r>
            </a:p>
          </p:txBody>
        </p:sp>
        <p:sp>
          <p:nvSpPr>
            <p:cNvPr id="26" name="TextBox 25">
              <a:extLst>
                <a:ext uri="{FF2B5EF4-FFF2-40B4-BE49-F238E27FC236}">
                  <a16:creationId xmlns:a16="http://schemas.microsoft.com/office/drawing/2014/main" id="{AEA200CA-93ED-60A0-3E90-32C08F115B52}"/>
                </a:ext>
              </a:extLst>
            </p:cNvPr>
            <p:cNvSpPr txBox="1"/>
            <p:nvPr/>
          </p:nvSpPr>
          <p:spPr>
            <a:xfrm>
              <a:off x="4005063" y="2008131"/>
              <a:ext cx="373820" cy="369332"/>
            </a:xfrm>
            <a:prstGeom prst="rect">
              <a:avLst/>
            </a:prstGeom>
            <a:noFill/>
          </p:spPr>
          <p:txBody>
            <a:bodyPr wrap="none" rtlCol="0">
              <a:spAutoFit/>
            </a:bodyPr>
            <a:lstStyle/>
            <a:p>
              <a:r>
                <a:rPr lang="en-US" dirty="0"/>
                <a:t>3.</a:t>
              </a:r>
            </a:p>
          </p:txBody>
        </p:sp>
      </p:grpSp>
      <p:cxnSp>
        <p:nvCxnSpPr>
          <p:cNvPr id="29" name="Straight Arrow Connector 28">
            <a:extLst>
              <a:ext uri="{FF2B5EF4-FFF2-40B4-BE49-F238E27FC236}">
                <a16:creationId xmlns:a16="http://schemas.microsoft.com/office/drawing/2014/main" id="{4B26F119-8BA2-F4DE-AA2E-A1034D895355}"/>
              </a:ext>
            </a:extLst>
          </p:cNvPr>
          <p:cNvCxnSpPr/>
          <p:nvPr/>
        </p:nvCxnSpPr>
        <p:spPr>
          <a:xfrm>
            <a:off x="5207267" y="2110126"/>
            <a:ext cx="4331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94F0A2E6-21AA-7D94-7FA8-39E59F3B8619}"/>
              </a:ext>
            </a:extLst>
          </p:cNvPr>
          <p:cNvSpPr txBox="1"/>
          <p:nvPr/>
        </p:nvSpPr>
        <p:spPr>
          <a:xfrm>
            <a:off x="8064412" y="748638"/>
            <a:ext cx="3847619" cy="738664"/>
          </a:xfrm>
          <a:prstGeom prst="rect">
            <a:avLst/>
          </a:prstGeom>
          <a:noFill/>
        </p:spPr>
        <p:txBody>
          <a:bodyPr wrap="square" rtlCol="0">
            <a:spAutoFit/>
          </a:bodyPr>
          <a:lstStyle/>
          <a:p>
            <a:r>
              <a:rPr lang="en-US" sz="1400" b="1" dirty="0"/>
              <a:t>Notes:</a:t>
            </a:r>
          </a:p>
          <a:p>
            <a:pPr marL="342900" indent="-342900">
              <a:buFont typeface="Arial" panose="020B0604020202020204" pitchFamily="34" charset="0"/>
              <a:buChar char="•"/>
            </a:pPr>
            <a:r>
              <a:rPr lang="en-US" sz="1400" dirty="0"/>
              <a:t>Add 1.25x the amount of reagent required to account for loss+ dead volume*</a:t>
            </a:r>
          </a:p>
        </p:txBody>
      </p:sp>
      <p:grpSp>
        <p:nvGrpSpPr>
          <p:cNvPr id="31" name="Group 30">
            <a:extLst>
              <a:ext uri="{FF2B5EF4-FFF2-40B4-BE49-F238E27FC236}">
                <a16:creationId xmlns:a16="http://schemas.microsoft.com/office/drawing/2014/main" id="{E218F0B0-CDAD-F51B-7F66-9B589A04B2D6}"/>
              </a:ext>
            </a:extLst>
          </p:cNvPr>
          <p:cNvGrpSpPr/>
          <p:nvPr/>
        </p:nvGrpSpPr>
        <p:grpSpPr>
          <a:xfrm>
            <a:off x="99004" y="3947579"/>
            <a:ext cx="3651063" cy="1435054"/>
            <a:chOff x="140425" y="1670030"/>
            <a:chExt cx="3651063" cy="1435054"/>
          </a:xfrm>
        </p:grpSpPr>
        <p:pic>
          <p:nvPicPr>
            <p:cNvPr id="32" name="Picture 31">
              <a:extLst>
                <a:ext uri="{FF2B5EF4-FFF2-40B4-BE49-F238E27FC236}">
                  <a16:creationId xmlns:a16="http://schemas.microsoft.com/office/drawing/2014/main" id="{97543AFA-C219-F244-A4B8-6534B2EBAEE6}"/>
                </a:ext>
              </a:extLst>
            </p:cNvPr>
            <p:cNvPicPr>
              <a:picLocks noChangeAspect="1"/>
            </p:cNvPicPr>
            <p:nvPr/>
          </p:nvPicPr>
          <p:blipFill>
            <a:blip r:embed="rId6"/>
            <a:srcRect t="31988" r="30001" b="10796"/>
            <a:stretch>
              <a:fillRect/>
            </a:stretch>
          </p:blipFill>
          <p:spPr>
            <a:xfrm>
              <a:off x="140425" y="1670030"/>
              <a:ext cx="3651063" cy="1435053"/>
            </a:xfrm>
            <a:prstGeom prst="rect">
              <a:avLst/>
            </a:prstGeom>
            <a:ln>
              <a:solidFill>
                <a:schemeClr val="tx1"/>
              </a:solidFill>
            </a:ln>
          </p:spPr>
        </p:pic>
        <p:sp>
          <p:nvSpPr>
            <p:cNvPr id="33" name="Rectangle 32">
              <a:extLst>
                <a:ext uri="{FF2B5EF4-FFF2-40B4-BE49-F238E27FC236}">
                  <a16:creationId xmlns:a16="http://schemas.microsoft.com/office/drawing/2014/main" id="{788BC0D0-C247-FB1F-8251-6C7667A29724}"/>
                </a:ext>
              </a:extLst>
            </p:cNvPr>
            <p:cNvSpPr/>
            <p:nvPr/>
          </p:nvSpPr>
          <p:spPr>
            <a:xfrm>
              <a:off x="363819" y="1826113"/>
              <a:ext cx="1477656" cy="12789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2CD9A9CC-0CA4-C406-08E5-C7A519F7D091}"/>
              </a:ext>
            </a:extLst>
          </p:cNvPr>
          <p:cNvSpPr txBox="1"/>
          <p:nvPr/>
        </p:nvSpPr>
        <p:spPr>
          <a:xfrm>
            <a:off x="70344" y="3496724"/>
            <a:ext cx="10902042" cy="276999"/>
          </a:xfrm>
          <a:prstGeom prst="rect">
            <a:avLst/>
          </a:prstGeom>
          <a:noFill/>
        </p:spPr>
        <p:txBody>
          <a:bodyPr wrap="square">
            <a:spAutoFit/>
          </a:bodyPr>
          <a:lstStyle/>
          <a:p>
            <a:r>
              <a:rPr lang="en-US" sz="1200" b="1" dirty="0"/>
              <a:t>4.  Click on the source plate and paste in the RNA concentrations + volumes calculated from Step1. </a:t>
            </a:r>
          </a:p>
        </p:txBody>
      </p:sp>
      <p:cxnSp>
        <p:nvCxnSpPr>
          <p:cNvPr id="41" name="Straight Arrow Connector 40">
            <a:extLst>
              <a:ext uri="{FF2B5EF4-FFF2-40B4-BE49-F238E27FC236}">
                <a16:creationId xmlns:a16="http://schemas.microsoft.com/office/drawing/2014/main" id="{CEFC5E95-8BF9-4C05-E55D-E2039C692E28}"/>
              </a:ext>
            </a:extLst>
          </p:cNvPr>
          <p:cNvCxnSpPr>
            <a:cxnSpLocks/>
          </p:cNvCxnSpPr>
          <p:nvPr/>
        </p:nvCxnSpPr>
        <p:spPr>
          <a:xfrm flipV="1">
            <a:off x="3829212" y="4665743"/>
            <a:ext cx="318499"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9072032A-7052-5F91-54F6-9A9E37CD018D}"/>
              </a:ext>
            </a:extLst>
          </p:cNvPr>
          <p:cNvSpPr/>
          <p:nvPr/>
        </p:nvSpPr>
        <p:spPr>
          <a:xfrm>
            <a:off x="6889622" y="4273019"/>
            <a:ext cx="507772" cy="17569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C9DAEFE6-73B6-4A1A-926D-804B2EF8506F}"/>
              </a:ext>
            </a:extLst>
          </p:cNvPr>
          <p:cNvCxnSpPr>
            <a:cxnSpLocks/>
          </p:cNvCxnSpPr>
          <p:nvPr/>
        </p:nvCxnSpPr>
        <p:spPr>
          <a:xfrm flipV="1">
            <a:off x="7584434" y="4003459"/>
            <a:ext cx="331210" cy="30793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2579D3F7-B2EA-9FCE-AB01-CA62F8DA4012}"/>
              </a:ext>
            </a:extLst>
          </p:cNvPr>
          <p:cNvPicPr>
            <a:picLocks noChangeAspect="1"/>
          </p:cNvPicPr>
          <p:nvPr/>
        </p:nvPicPr>
        <p:blipFill>
          <a:blip r:embed="rId7"/>
          <a:stretch>
            <a:fillRect/>
          </a:stretch>
        </p:blipFill>
        <p:spPr>
          <a:xfrm>
            <a:off x="7971820" y="3527708"/>
            <a:ext cx="4032802" cy="596225"/>
          </a:xfrm>
          <a:prstGeom prst="rect">
            <a:avLst/>
          </a:prstGeom>
        </p:spPr>
      </p:pic>
      <p:sp>
        <p:nvSpPr>
          <p:cNvPr id="45" name="TextBox 44">
            <a:extLst>
              <a:ext uri="{FF2B5EF4-FFF2-40B4-BE49-F238E27FC236}">
                <a16:creationId xmlns:a16="http://schemas.microsoft.com/office/drawing/2014/main" id="{8E0A8DBE-257C-3906-41F4-8890CD459BB2}"/>
              </a:ext>
            </a:extLst>
          </p:cNvPr>
          <p:cNvSpPr txBox="1"/>
          <p:nvPr/>
        </p:nvSpPr>
        <p:spPr>
          <a:xfrm>
            <a:off x="7902932" y="3281656"/>
            <a:ext cx="1839543" cy="276999"/>
          </a:xfrm>
          <a:prstGeom prst="rect">
            <a:avLst/>
          </a:prstGeom>
          <a:noFill/>
        </p:spPr>
        <p:txBody>
          <a:bodyPr wrap="none" rtlCol="0">
            <a:spAutoFit/>
          </a:bodyPr>
          <a:lstStyle/>
          <a:p>
            <a:r>
              <a:rPr lang="en-US" sz="1200" dirty="0"/>
              <a:t>Copy Values to clipboard</a:t>
            </a:r>
          </a:p>
        </p:txBody>
      </p:sp>
      <p:cxnSp>
        <p:nvCxnSpPr>
          <p:cNvPr id="46" name="Straight Arrow Connector 45">
            <a:extLst>
              <a:ext uri="{FF2B5EF4-FFF2-40B4-BE49-F238E27FC236}">
                <a16:creationId xmlns:a16="http://schemas.microsoft.com/office/drawing/2014/main" id="{4D32F047-0817-548E-AE11-5E9DE69AE402}"/>
              </a:ext>
            </a:extLst>
          </p:cNvPr>
          <p:cNvCxnSpPr>
            <a:cxnSpLocks/>
          </p:cNvCxnSpPr>
          <p:nvPr/>
        </p:nvCxnSpPr>
        <p:spPr>
          <a:xfrm>
            <a:off x="9545086" y="4200502"/>
            <a:ext cx="0" cy="3660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A1598C83-04A7-2367-C799-A247B7965664}"/>
              </a:ext>
            </a:extLst>
          </p:cNvPr>
          <p:cNvSpPr txBox="1"/>
          <p:nvPr/>
        </p:nvSpPr>
        <p:spPr>
          <a:xfrm>
            <a:off x="7553405" y="4428030"/>
            <a:ext cx="2029338" cy="276999"/>
          </a:xfrm>
          <a:prstGeom prst="rect">
            <a:avLst/>
          </a:prstGeom>
          <a:noFill/>
        </p:spPr>
        <p:txBody>
          <a:bodyPr wrap="none" rtlCol="0">
            <a:spAutoFit/>
          </a:bodyPr>
          <a:lstStyle/>
          <a:p>
            <a:r>
              <a:rPr lang="en-US" sz="1200" dirty="0"/>
              <a:t>Paste values from clipboard</a:t>
            </a:r>
          </a:p>
        </p:txBody>
      </p:sp>
      <p:sp>
        <p:nvSpPr>
          <p:cNvPr id="50" name="Rectangle 49">
            <a:extLst>
              <a:ext uri="{FF2B5EF4-FFF2-40B4-BE49-F238E27FC236}">
                <a16:creationId xmlns:a16="http://schemas.microsoft.com/office/drawing/2014/main" id="{66564A28-02C5-A210-EC46-1322755FDC86}"/>
              </a:ext>
            </a:extLst>
          </p:cNvPr>
          <p:cNvSpPr/>
          <p:nvPr/>
        </p:nvSpPr>
        <p:spPr>
          <a:xfrm>
            <a:off x="8822704" y="6443778"/>
            <a:ext cx="1036041" cy="2579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8333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2DF1E-C136-F82E-F913-B83BF1F8E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7E03D6-C4C0-EFB8-E5D4-C995FCB14E41}"/>
              </a:ext>
            </a:extLst>
          </p:cNvPr>
          <p:cNvSpPr>
            <a:spLocks noGrp="1"/>
          </p:cNvSpPr>
          <p:nvPr>
            <p:ph type="title"/>
          </p:nvPr>
        </p:nvSpPr>
        <p:spPr>
          <a:xfrm>
            <a:off x="0" y="-375612"/>
            <a:ext cx="12129247" cy="1325563"/>
          </a:xfrm>
        </p:spPr>
        <p:txBody>
          <a:bodyPr>
            <a:normAutofit/>
          </a:bodyPr>
          <a:lstStyle/>
          <a:p>
            <a:r>
              <a:rPr lang="en-US" sz="2800" u="sng" dirty="0"/>
              <a:t>Step5: Edit protocol step 2 “Normalization” for RNA transfer + Dilution with H2O</a:t>
            </a:r>
          </a:p>
        </p:txBody>
      </p:sp>
      <p:sp>
        <p:nvSpPr>
          <p:cNvPr id="17" name="TextBox 16">
            <a:extLst>
              <a:ext uri="{FF2B5EF4-FFF2-40B4-BE49-F238E27FC236}">
                <a16:creationId xmlns:a16="http://schemas.microsoft.com/office/drawing/2014/main" id="{8C11FC86-4D2E-0C5E-AEA3-059C594D813D}"/>
              </a:ext>
            </a:extLst>
          </p:cNvPr>
          <p:cNvSpPr txBox="1"/>
          <p:nvPr/>
        </p:nvSpPr>
        <p:spPr>
          <a:xfrm>
            <a:off x="-1" y="402601"/>
            <a:ext cx="11979667" cy="461665"/>
          </a:xfrm>
          <a:prstGeom prst="rect">
            <a:avLst/>
          </a:prstGeom>
          <a:noFill/>
        </p:spPr>
        <p:txBody>
          <a:bodyPr wrap="square">
            <a:spAutoFit/>
          </a:bodyPr>
          <a:lstStyle/>
          <a:p>
            <a:r>
              <a:rPr lang="en-US" sz="1200" b="1" dirty="0"/>
              <a:t>5. Edit protocol step #2 and select the sample wells from the source plate to be transferred over and diluted in the destination target plate. </a:t>
            </a:r>
          </a:p>
          <a:p>
            <a:r>
              <a:rPr lang="en-US" sz="1200" b="1" dirty="0"/>
              <a:t>	</a:t>
            </a:r>
            <a:r>
              <a:rPr lang="en-US" sz="1200" dirty="0"/>
              <a:t>-Amount of sample from source plate is dynamically calculated based on its initial concentration and diluted to the fixed desired volume with H2O.  </a:t>
            </a:r>
          </a:p>
        </p:txBody>
      </p:sp>
      <p:grpSp>
        <p:nvGrpSpPr>
          <p:cNvPr id="15" name="Group 14">
            <a:extLst>
              <a:ext uri="{FF2B5EF4-FFF2-40B4-BE49-F238E27FC236}">
                <a16:creationId xmlns:a16="http://schemas.microsoft.com/office/drawing/2014/main" id="{E047E38B-CD77-B7AB-693D-7493104306B8}"/>
              </a:ext>
            </a:extLst>
          </p:cNvPr>
          <p:cNvGrpSpPr/>
          <p:nvPr/>
        </p:nvGrpSpPr>
        <p:grpSpPr>
          <a:xfrm>
            <a:off x="4462044" y="1282911"/>
            <a:ext cx="4336242" cy="2465343"/>
            <a:chOff x="148633" y="1267940"/>
            <a:chExt cx="5478445" cy="3114735"/>
          </a:xfrm>
        </p:grpSpPr>
        <p:pic>
          <p:nvPicPr>
            <p:cNvPr id="14" name="Picture 13">
              <a:extLst>
                <a:ext uri="{FF2B5EF4-FFF2-40B4-BE49-F238E27FC236}">
                  <a16:creationId xmlns:a16="http://schemas.microsoft.com/office/drawing/2014/main" id="{E807DFBD-09F4-3BED-05FF-525396B173CA}"/>
                </a:ext>
              </a:extLst>
            </p:cNvPr>
            <p:cNvPicPr>
              <a:picLocks noChangeAspect="1"/>
            </p:cNvPicPr>
            <p:nvPr/>
          </p:nvPicPr>
          <p:blipFill>
            <a:blip r:embed="rId3"/>
            <a:srcRect r="29514"/>
            <a:stretch>
              <a:fillRect/>
            </a:stretch>
          </p:blipFill>
          <p:spPr>
            <a:xfrm>
              <a:off x="148634" y="1267940"/>
              <a:ext cx="5478444" cy="3114735"/>
            </a:xfrm>
            <a:prstGeom prst="rect">
              <a:avLst/>
            </a:prstGeom>
            <a:ln>
              <a:solidFill>
                <a:schemeClr val="tx1"/>
              </a:solidFill>
            </a:ln>
          </p:spPr>
        </p:pic>
        <p:sp>
          <p:nvSpPr>
            <p:cNvPr id="8" name="Rectangle 7">
              <a:extLst>
                <a:ext uri="{FF2B5EF4-FFF2-40B4-BE49-F238E27FC236}">
                  <a16:creationId xmlns:a16="http://schemas.microsoft.com/office/drawing/2014/main" id="{1559C344-7B4D-194B-0984-B76130D914E0}"/>
                </a:ext>
              </a:extLst>
            </p:cNvPr>
            <p:cNvSpPr/>
            <p:nvPr/>
          </p:nvSpPr>
          <p:spPr>
            <a:xfrm>
              <a:off x="148633" y="1560767"/>
              <a:ext cx="1407606" cy="86415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6B865D9-0FBF-D142-DE5B-DB7EC2E9126A}"/>
                </a:ext>
              </a:extLst>
            </p:cNvPr>
            <p:cNvSpPr/>
            <p:nvPr/>
          </p:nvSpPr>
          <p:spPr>
            <a:xfrm>
              <a:off x="148633" y="2971721"/>
              <a:ext cx="1407606" cy="86415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513DD50-B410-0B2C-8A81-0D4AB64E5690}"/>
                </a:ext>
              </a:extLst>
            </p:cNvPr>
            <p:cNvSpPr/>
            <p:nvPr/>
          </p:nvSpPr>
          <p:spPr>
            <a:xfrm>
              <a:off x="2426468" y="2622343"/>
              <a:ext cx="2330380" cy="64633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a:extLst>
              <a:ext uri="{FF2B5EF4-FFF2-40B4-BE49-F238E27FC236}">
                <a16:creationId xmlns:a16="http://schemas.microsoft.com/office/drawing/2014/main" id="{34EC598B-4349-0BAC-49F2-E4DF6F3B8454}"/>
              </a:ext>
            </a:extLst>
          </p:cNvPr>
          <p:cNvPicPr>
            <a:picLocks noChangeAspect="1"/>
          </p:cNvPicPr>
          <p:nvPr/>
        </p:nvPicPr>
        <p:blipFill>
          <a:blip r:embed="rId4"/>
          <a:stretch>
            <a:fillRect/>
          </a:stretch>
        </p:blipFill>
        <p:spPr>
          <a:xfrm>
            <a:off x="166933" y="5187594"/>
            <a:ext cx="4786993" cy="1468631"/>
          </a:xfrm>
          <a:prstGeom prst="rect">
            <a:avLst/>
          </a:prstGeom>
          <a:ln>
            <a:solidFill>
              <a:schemeClr val="tx1"/>
            </a:solidFill>
          </a:ln>
        </p:spPr>
      </p:pic>
      <p:sp>
        <p:nvSpPr>
          <p:cNvPr id="16" name="TextBox 15">
            <a:extLst>
              <a:ext uri="{FF2B5EF4-FFF2-40B4-BE49-F238E27FC236}">
                <a16:creationId xmlns:a16="http://schemas.microsoft.com/office/drawing/2014/main" id="{5BF611F8-4E9C-BAE6-F181-C85CB20C0C56}"/>
              </a:ext>
            </a:extLst>
          </p:cNvPr>
          <p:cNvSpPr txBox="1"/>
          <p:nvPr/>
        </p:nvSpPr>
        <p:spPr>
          <a:xfrm>
            <a:off x="5296449" y="5294702"/>
            <a:ext cx="5101062" cy="1384995"/>
          </a:xfrm>
          <a:prstGeom prst="rect">
            <a:avLst/>
          </a:prstGeom>
          <a:noFill/>
        </p:spPr>
        <p:txBody>
          <a:bodyPr wrap="square" rtlCol="0">
            <a:spAutoFit/>
          </a:bodyPr>
          <a:lstStyle/>
          <a:p>
            <a:r>
              <a:rPr lang="en-US" sz="1400" b="1" dirty="0"/>
              <a:t>Notes:</a:t>
            </a:r>
          </a:p>
          <a:p>
            <a:pPr marL="285750" indent="-285750">
              <a:buFont typeface="Arial" panose="020B0604020202020204" pitchFamily="34" charset="0"/>
              <a:buChar char="•"/>
            </a:pPr>
            <a:r>
              <a:rPr lang="en-US" sz="1400" dirty="0"/>
              <a:t>These values can change and are set up for 30uL (45ng input RNA) Nucleoside Digestion reactions.</a:t>
            </a:r>
          </a:p>
          <a:p>
            <a:pPr marL="285750" indent="-285750">
              <a:buFont typeface="Arial" panose="020B0604020202020204" pitchFamily="34" charset="0"/>
              <a:buChar char="•"/>
            </a:pPr>
            <a:r>
              <a:rPr lang="en-US" sz="1400" dirty="0"/>
              <a:t>The volume of RNA + H2O are calculated dynamically based on the concentrations imported in the source plate. </a:t>
            </a:r>
          </a:p>
          <a:p>
            <a:pPr marL="285750" indent="-285750">
              <a:buFont typeface="Arial" panose="020B0604020202020204" pitchFamily="34" charset="0"/>
              <a:buChar char="•"/>
            </a:pPr>
            <a:r>
              <a:rPr lang="en-US" sz="1400" dirty="0"/>
              <a:t>H2O is aliquoted first, and then the RNA sample second </a:t>
            </a:r>
          </a:p>
        </p:txBody>
      </p:sp>
      <p:pic>
        <p:nvPicPr>
          <p:cNvPr id="21" name="Picture 20">
            <a:extLst>
              <a:ext uri="{FF2B5EF4-FFF2-40B4-BE49-F238E27FC236}">
                <a16:creationId xmlns:a16="http://schemas.microsoft.com/office/drawing/2014/main" id="{4BEBA1D5-045F-F5B1-D838-CBB9CA4B2ED9}"/>
              </a:ext>
            </a:extLst>
          </p:cNvPr>
          <p:cNvPicPr>
            <a:picLocks noChangeAspect="1"/>
          </p:cNvPicPr>
          <p:nvPr/>
        </p:nvPicPr>
        <p:blipFill>
          <a:blip r:embed="rId5"/>
          <a:srcRect l="36705"/>
          <a:stretch>
            <a:fillRect/>
          </a:stretch>
        </p:blipFill>
        <p:spPr>
          <a:xfrm>
            <a:off x="112429" y="1245689"/>
            <a:ext cx="3996995" cy="3378054"/>
          </a:xfrm>
          <a:prstGeom prst="rect">
            <a:avLst/>
          </a:prstGeom>
          <a:ln>
            <a:solidFill>
              <a:schemeClr val="tx1"/>
            </a:solidFill>
          </a:ln>
        </p:spPr>
      </p:pic>
      <p:sp>
        <p:nvSpPr>
          <p:cNvPr id="24" name="Rectangle 23">
            <a:extLst>
              <a:ext uri="{FF2B5EF4-FFF2-40B4-BE49-F238E27FC236}">
                <a16:creationId xmlns:a16="http://schemas.microsoft.com/office/drawing/2014/main" id="{FE75B1FC-2611-C165-5F3E-35F3A5C1DC43}"/>
              </a:ext>
            </a:extLst>
          </p:cNvPr>
          <p:cNvSpPr/>
          <p:nvPr/>
        </p:nvSpPr>
        <p:spPr>
          <a:xfrm>
            <a:off x="2849075" y="1652243"/>
            <a:ext cx="1269248" cy="12142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0AFADC54-71B2-64DF-1356-D22A0F95891F}"/>
              </a:ext>
            </a:extLst>
          </p:cNvPr>
          <p:cNvCxnSpPr/>
          <p:nvPr/>
        </p:nvCxnSpPr>
        <p:spPr>
          <a:xfrm>
            <a:off x="4232953" y="2373330"/>
            <a:ext cx="19520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CAD9766-BE99-1D3D-DDD1-F5299C4BFD28}"/>
              </a:ext>
            </a:extLst>
          </p:cNvPr>
          <p:cNvSpPr txBox="1"/>
          <p:nvPr/>
        </p:nvSpPr>
        <p:spPr>
          <a:xfrm>
            <a:off x="5325013" y="1444255"/>
            <a:ext cx="373820" cy="369332"/>
          </a:xfrm>
          <a:prstGeom prst="rect">
            <a:avLst/>
          </a:prstGeom>
          <a:noFill/>
        </p:spPr>
        <p:txBody>
          <a:bodyPr wrap="none" rtlCol="0">
            <a:spAutoFit/>
          </a:bodyPr>
          <a:lstStyle/>
          <a:p>
            <a:r>
              <a:rPr lang="en-US" dirty="0"/>
              <a:t>1.</a:t>
            </a:r>
          </a:p>
        </p:txBody>
      </p:sp>
      <p:sp>
        <p:nvSpPr>
          <p:cNvPr id="28" name="TextBox 27">
            <a:extLst>
              <a:ext uri="{FF2B5EF4-FFF2-40B4-BE49-F238E27FC236}">
                <a16:creationId xmlns:a16="http://schemas.microsoft.com/office/drawing/2014/main" id="{429AD7B5-4E1B-9F47-DC81-FBC786C6C02A}"/>
              </a:ext>
            </a:extLst>
          </p:cNvPr>
          <p:cNvSpPr txBox="1"/>
          <p:nvPr/>
        </p:nvSpPr>
        <p:spPr>
          <a:xfrm>
            <a:off x="5296449" y="2321421"/>
            <a:ext cx="373820" cy="369332"/>
          </a:xfrm>
          <a:prstGeom prst="rect">
            <a:avLst/>
          </a:prstGeom>
          <a:noFill/>
        </p:spPr>
        <p:txBody>
          <a:bodyPr wrap="none" rtlCol="0">
            <a:spAutoFit/>
          </a:bodyPr>
          <a:lstStyle/>
          <a:p>
            <a:r>
              <a:rPr lang="en-US" dirty="0"/>
              <a:t>2.</a:t>
            </a:r>
          </a:p>
        </p:txBody>
      </p:sp>
      <p:sp>
        <p:nvSpPr>
          <p:cNvPr id="29" name="TextBox 28">
            <a:extLst>
              <a:ext uri="{FF2B5EF4-FFF2-40B4-BE49-F238E27FC236}">
                <a16:creationId xmlns:a16="http://schemas.microsoft.com/office/drawing/2014/main" id="{AEB3D8D5-EE12-1902-4777-97D7BA2FEBDC}"/>
              </a:ext>
            </a:extLst>
          </p:cNvPr>
          <p:cNvSpPr txBox="1"/>
          <p:nvPr/>
        </p:nvSpPr>
        <p:spPr>
          <a:xfrm>
            <a:off x="7783863" y="2064584"/>
            <a:ext cx="373820" cy="369332"/>
          </a:xfrm>
          <a:prstGeom prst="rect">
            <a:avLst/>
          </a:prstGeom>
          <a:noFill/>
        </p:spPr>
        <p:txBody>
          <a:bodyPr wrap="none" rtlCol="0">
            <a:spAutoFit/>
          </a:bodyPr>
          <a:lstStyle/>
          <a:p>
            <a:r>
              <a:rPr lang="en-US" dirty="0"/>
              <a:t>3.</a:t>
            </a:r>
          </a:p>
        </p:txBody>
      </p:sp>
      <p:grpSp>
        <p:nvGrpSpPr>
          <p:cNvPr id="33" name="Group 32">
            <a:extLst>
              <a:ext uri="{FF2B5EF4-FFF2-40B4-BE49-F238E27FC236}">
                <a16:creationId xmlns:a16="http://schemas.microsoft.com/office/drawing/2014/main" id="{AC5EFBDC-02D5-4451-4CDE-78C30E5FEC2B}"/>
              </a:ext>
            </a:extLst>
          </p:cNvPr>
          <p:cNvGrpSpPr/>
          <p:nvPr/>
        </p:nvGrpSpPr>
        <p:grpSpPr>
          <a:xfrm>
            <a:off x="9013553" y="837215"/>
            <a:ext cx="2528000" cy="1944727"/>
            <a:chOff x="8765389" y="654772"/>
            <a:chExt cx="2528000" cy="1944727"/>
          </a:xfrm>
        </p:grpSpPr>
        <p:pic>
          <p:nvPicPr>
            <p:cNvPr id="11" name="Picture 10">
              <a:extLst>
                <a:ext uri="{FF2B5EF4-FFF2-40B4-BE49-F238E27FC236}">
                  <a16:creationId xmlns:a16="http://schemas.microsoft.com/office/drawing/2014/main" id="{FA4C6A1A-EE62-D4DB-975F-E8F0E40D736E}"/>
                </a:ext>
              </a:extLst>
            </p:cNvPr>
            <p:cNvPicPr>
              <a:picLocks noChangeAspect="1"/>
            </p:cNvPicPr>
            <p:nvPr/>
          </p:nvPicPr>
          <p:blipFill>
            <a:blip r:embed="rId6"/>
            <a:stretch>
              <a:fillRect/>
            </a:stretch>
          </p:blipFill>
          <p:spPr>
            <a:xfrm>
              <a:off x="8908035" y="943977"/>
              <a:ext cx="2117876" cy="1655522"/>
            </a:xfrm>
            <a:prstGeom prst="rect">
              <a:avLst/>
            </a:prstGeom>
            <a:ln>
              <a:solidFill>
                <a:schemeClr val="tx1"/>
              </a:solidFill>
            </a:ln>
          </p:spPr>
        </p:pic>
        <p:sp>
          <p:nvSpPr>
            <p:cNvPr id="30" name="TextBox 29">
              <a:extLst>
                <a:ext uri="{FF2B5EF4-FFF2-40B4-BE49-F238E27FC236}">
                  <a16:creationId xmlns:a16="http://schemas.microsoft.com/office/drawing/2014/main" id="{2C22210D-5689-215E-ADA0-F245423B678C}"/>
                </a:ext>
              </a:extLst>
            </p:cNvPr>
            <p:cNvSpPr txBox="1"/>
            <p:nvPr/>
          </p:nvSpPr>
          <p:spPr>
            <a:xfrm>
              <a:off x="8765389" y="654772"/>
              <a:ext cx="2528000" cy="307777"/>
            </a:xfrm>
            <a:prstGeom prst="rect">
              <a:avLst/>
            </a:prstGeom>
            <a:noFill/>
          </p:spPr>
          <p:txBody>
            <a:bodyPr wrap="none" rtlCol="0">
              <a:spAutoFit/>
            </a:bodyPr>
            <a:lstStyle/>
            <a:p>
              <a:r>
                <a:rPr lang="en-US" sz="1400" dirty="0"/>
                <a:t>1. Select wells in Source plate</a:t>
              </a:r>
            </a:p>
          </p:txBody>
        </p:sp>
      </p:grpSp>
      <p:grpSp>
        <p:nvGrpSpPr>
          <p:cNvPr id="32" name="Group 31">
            <a:extLst>
              <a:ext uri="{FF2B5EF4-FFF2-40B4-BE49-F238E27FC236}">
                <a16:creationId xmlns:a16="http://schemas.microsoft.com/office/drawing/2014/main" id="{9496ED86-4A43-C0CF-EE48-50EE4D2084A0}"/>
              </a:ext>
            </a:extLst>
          </p:cNvPr>
          <p:cNvGrpSpPr/>
          <p:nvPr/>
        </p:nvGrpSpPr>
        <p:grpSpPr>
          <a:xfrm>
            <a:off x="9074242" y="3087079"/>
            <a:ext cx="2406621" cy="1910328"/>
            <a:chOff x="8798284" y="2665687"/>
            <a:chExt cx="2406621" cy="1910328"/>
          </a:xfrm>
        </p:grpSpPr>
        <p:pic>
          <p:nvPicPr>
            <p:cNvPr id="12" name="Picture 11">
              <a:extLst>
                <a:ext uri="{FF2B5EF4-FFF2-40B4-BE49-F238E27FC236}">
                  <a16:creationId xmlns:a16="http://schemas.microsoft.com/office/drawing/2014/main" id="{74E3175F-A162-8D7A-205F-2D95C02227D4}"/>
                </a:ext>
              </a:extLst>
            </p:cNvPr>
            <p:cNvPicPr>
              <a:picLocks noChangeAspect="1"/>
            </p:cNvPicPr>
            <p:nvPr/>
          </p:nvPicPr>
          <p:blipFill>
            <a:blip r:embed="rId7"/>
            <a:stretch>
              <a:fillRect/>
            </a:stretch>
          </p:blipFill>
          <p:spPr>
            <a:xfrm>
              <a:off x="8908035" y="2920493"/>
              <a:ext cx="2094631" cy="1655522"/>
            </a:xfrm>
            <a:prstGeom prst="rect">
              <a:avLst/>
            </a:prstGeom>
            <a:ln>
              <a:solidFill>
                <a:schemeClr val="tx1"/>
              </a:solidFill>
            </a:ln>
          </p:spPr>
        </p:pic>
        <p:sp>
          <p:nvSpPr>
            <p:cNvPr id="31" name="TextBox 30">
              <a:extLst>
                <a:ext uri="{FF2B5EF4-FFF2-40B4-BE49-F238E27FC236}">
                  <a16:creationId xmlns:a16="http://schemas.microsoft.com/office/drawing/2014/main" id="{1ED4E032-71EC-FD4F-A2B9-DF3A60580ADB}"/>
                </a:ext>
              </a:extLst>
            </p:cNvPr>
            <p:cNvSpPr txBox="1"/>
            <p:nvPr/>
          </p:nvSpPr>
          <p:spPr>
            <a:xfrm>
              <a:off x="8798284" y="2665687"/>
              <a:ext cx="2406621" cy="307777"/>
            </a:xfrm>
            <a:prstGeom prst="rect">
              <a:avLst/>
            </a:prstGeom>
            <a:noFill/>
          </p:spPr>
          <p:txBody>
            <a:bodyPr wrap="none" rtlCol="0">
              <a:spAutoFit/>
            </a:bodyPr>
            <a:lstStyle/>
            <a:p>
              <a:r>
                <a:rPr lang="en-US" sz="1400" dirty="0"/>
                <a:t>2. Select wells in Target plate</a:t>
              </a:r>
            </a:p>
          </p:txBody>
        </p:sp>
      </p:grpSp>
      <p:cxnSp>
        <p:nvCxnSpPr>
          <p:cNvPr id="35" name="Straight Arrow Connector 34">
            <a:extLst>
              <a:ext uri="{FF2B5EF4-FFF2-40B4-BE49-F238E27FC236}">
                <a16:creationId xmlns:a16="http://schemas.microsoft.com/office/drawing/2014/main" id="{2F97CBDE-2E67-57DB-0A7E-2BB907C314BB}"/>
              </a:ext>
            </a:extLst>
          </p:cNvPr>
          <p:cNvCxnSpPr>
            <a:cxnSpLocks/>
          </p:cNvCxnSpPr>
          <p:nvPr/>
        </p:nvCxnSpPr>
        <p:spPr>
          <a:xfrm flipV="1">
            <a:off x="8869609" y="2089846"/>
            <a:ext cx="272399" cy="23546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64801121-07C4-0897-B72C-56B179DE83C1}"/>
              </a:ext>
            </a:extLst>
          </p:cNvPr>
          <p:cNvSpPr txBox="1"/>
          <p:nvPr/>
        </p:nvSpPr>
        <p:spPr>
          <a:xfrm>
            <a:off x="109003" y="4863856"/>
            <a:ext cx="5561266" cy="307777"/>
          </a:xfrm>
          <a:prstGeom prst="rect">
            <a:avLst/>
          </a:prstGeom>
          <a:noFill/>
        </p:spPr>
        <p:txBody>
          <a:bodyPr wrap="none" rtlCol="0">
            <a:spAutoFit/>
          </a:bodyPr>
          <a:lstStyle/>
          <a:p>
            <a:r>
              <a:rPr lang="en-US" sz="1400" dirty="0"/>
              <a:t>3. Set the amount of RNA based on concentration and desired volume</a:t>
            </a:r>
          </a:p>
        </p:txBody>
      </p:sp>
      <p:cxnSp>
        <p:nvCxnSpPr>
          <p:cNvPr id="38" name="Straight Arrow Connector 37">
            <a:extLst>
              <a:ext uri="{FF2B5EF4-FFF2-40B4-BE49-F238E27FC236}">
                <a16:creationId xmlns:a16="http://schemas.microsoft.com/office/drawing/2014/main" id="{EC010079-9195-5B05-AF86-D45D69162D11}"/>
              </a:ext>
            </a:extLst>
          </p:cNvPr>
          <p:cNvCxnSpPr>
            <a:cxnSpLocks/>
          </p:cNvCxnSpPr>
          <p:nvPr/>
        </p:nvCxnSpPr>
        <p:spPr>
          <a:xfrm flipH="1">
            <a:off x="4818580" y="4117744"/>
            <a:ext cx="4250466" cy="5970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F264A2BC-A471-CC47-780A-D5AE7EF4DC61}"/>
              </a:ext>
            </a:extLst>
          </p:cNvPr>
          <p:cNvCxnSpPr>
            <a:cxnSpLocks/>
          </p:cNvCxnSpPr>
          <p:nvPr/>
        </p:nvCxnSpPr>
        <p:spPr>
          <a:xfrm>
            <a:off x="10215136" y="2823712"/>
            <a:ext cx="0" cy="3474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A891BE32-5C21-02C6-DF3D-72C55C83AEBD}"/>
              </a:ext>
            </a:extLst>
          </p:cNvPr>
          <p:cNvSpPr txBox="1"/>
          <p:nvPr/>
        </p:nvSpPr>
        <p:spPr>
          <a:xfrm>
            <a:off x="41106" y="983669"/>
            <a:ext cx="2334742" cy="307777"/>
          </a:xfrm>
          <a:prstGeom prst="rect">
            <a:avLst/>
          </a:prstGeom>
          <a:noFill/>
        </p:spPr>
        <p:txBody>
          <a:bodyPr wrap="none" rtlCol="0">
            <a:spAutoFit/>
          </a:bodyPr>
          <a:lstStyle/>
          <a:p>
            <a:r>
              <a:rPr lang="en-US" sz="1400" dirty="0"/>
              <a:t>Click Edit on Protocol Step2</a:t>
            </a:r>
          </a:p>
        </p:txBody>
      </p:sp>
      <p:sp>
        <p:nvSpPr>
          <p:cNvPr id="44" name="TextBox 43">
            <a:extLst>
              <a:ext uri="{FF2B5EF4-FFF2-40B4-BE49-F238E27FC236}">
                <a16:creationId xmlns:a16="http://schemas.microsoft.com/office/drawing/2014/main" id="{03E8886B-6E77-2869-8CF4-573B343F1D65}"/>
              </a:ext>
            </a:extLst>
          </p:cNvPr>
          <p:cNvSpPr txBox="1"/>
          <p:nvPr/>
        </p:nvSpPr>
        <p:spPr>
          <a:xfrm>
            <a:off x="4355395" y="1023078"/>
            <a:ext cx="2509790" cy="307777"/>
          </a:xfrm>
          <a:prstGeom prst="rect">
            <a:avLst/>
          </a:prstGeom>
          <a:noFill/>
        </p:spPr>
        <p:txBody>
          <a:bodyPr wrap="none" rtlCol="0">
            <a:spAutoFit/>
          </a:bodyPr>
          <a:lstStyle/>
          <a:p>
            <a:r>
              <a:rPr lang="en-US" sz="1400" dirty="0"/>
              <a:t>Fill in values for sections 1,2,3</a:t>
            </a:r>
          </a:p>
        </p:txBody>
      </p:sp>
    </p:spTree>
    <p:extLst>
      <p:ext uri="{BB962C8B-B14F-4D97-AF65-F5344CB8AC3E}">
        <p14:creationId xmlns:p14="http://schemas.microsoft.com/office/powerpoint/2010/main" val="3185647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4491C-A37F-BF5F-ADD5-9BF1D7321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92F943-8E25-A57C-5A5D-0FFBCF782BBB}"/>
              </a:ext>
            </a:extLst>
          </p:cNvPr>
          <p:cNvSpPr>
            <a:spLocks noGrp="1"/>
          </p:cNvSpPr>
          <p:nvPr>
            <p:ph type="title"/>
          </p:nvPr>
        </p:nvSpPr>
        <p:spPr>
          <a:xfrm>
            <a:off x="62753" y="-209609"/>
            <a:ext cx="12129247" cy="1325563"/>
          </a:xfrm>
        </p:spPr>
        <p:txBody>
          <a:bodyPr>
            <a:normAutofit/>
          </a:bodyPr>
          <a:lstStyle/>
          <a:p>
            <a:r>
              <a:rPr lang="en-US" sz="2800" u="sng" dirty="0"/>
              <a:t>Step6-7: Select the target destination wells and volumes for the 10x buffer and NDM </a:t>
            </a:r>
          </a:p>
        </p:txBody>
      </p:sp>
      <p:pic>
        <p:nvPicPr>
          <p:cNvPr id="4" name="Picture 3">
            <a:extLst>
              <a:ext uri="{FF2B5EF4-FFF2-40B4-BE49-F238E27FC236}">
                <a16:creationId xmlns:a16="http://schemas.microsoft.com/office/drawing/2014/main" id="{15E98B15-F8D4-8F6B-22B4-49FDD6014D20}"/>
              </a:ext>
            </a:extLst>
          </p:cNvPr>
          <p:cNvPicPr>
            <a:picLocks noChangeAspect="1"/>
          </p:cNvPicPr>
          <p:nvPr/>
        </p:nvPicPr>
        <p:blipFill>
          <a:blip r:embed="rId3"/>
          <a:stretch>
            <a:fillRect/>
          </a:stretch>
        </p:blipFill>
        <p:spPr>
          <a:xfrm>
            <a:off x="6267895" y="1134946"/>
            <a:ext cx="2483517" cy="1896624"/>
          </a:xfrm>
          <a:prstGeom prst="rect">
            <a:avLst/>
          </a:prstGeom>
          <a:ln>
            <a:solidFill>
              <a:schemeClr val="tx1"/>
            </a:solidFill>
          </a:ln>
        </p:spPr>
      </p:pic>
      <p:pic>
        <p:nvPicPr>
          <p:cNvPr id="5" name="Picture 4">
            <a:extLst>
              <a:ext uri="{FF2B5EF4-FFF2-40B4-BE49-F238E27FC236}">
                <a16:creationId xmlns:a16="http://schemas.microsoft.com/office/drawing/2014/main" id="{5956C65A-3B1C-DF5B-D6FB-8B64245011EA}"/>
              </a:ext>
            </a:extLst>
          </p:cNvPr>
          <p:cNvPicPr>
            <a:picLocks noChangeAspect="1"/>
          </p:cNvPicPr>
          <p:nvPr/>
        </p:nvPicPr>
        <p:blipFill>
          <a:blip r:embed="rId4"/>
          <a:stretch>
            <a:fillRect/>
          </a:stretch>
        </p:blipFill>
        <p:spPr>
          <a:xfrm>
            <a:off x="2200777" y="4491060"/>
            <a:ext cx="4256063" cy="1911040"/>
          </a:xfrm>
          <a:prstGeom prst="rect">
            <a:avLst/>
          </a:prstGeom>
          <a:ln>
            <a:solidFill>
              <a:schemeClr val="tx1"/>
            </a:solidFill>
          </a:ln>
        </p:spPr>
      </p:pic>
      <p:pic>
        <p:nvPicPr>
          <p:cNvPr id="7" name="Picture 6">
            <a:extLst>
              <a:ext uri="{FF2B5EF4-FFF2-40B4-BE49-F238E27FC236}">
                <a16:creationId xmlns:a16="http://schemas.microsoft.com/office/drawing/2014/main" id="{C91CF867-E634-E5B2-E24E-87C122AE3F84}"/>
              </a:ext>
            </a:extLst>
          </p:cNvPr>
          <p:cNvPicPr>
            <a:picLocks noChangeAspect="1"/>
          </p:cNvPicPr>
          <p:nvPr/>
        </p:nvPicPr>
        <p:blipFill>
          <a:blip r:embed="rId5"/>
          <a:stretch>
            <a:fillRect/>
          </a:stretch>
        </p:blipFill>
        <p:spPr>
          <a:xfrm>
            <a:off x="6861161" y="4496999"/>
            <a:ext cx="2306941" cy="1911040"/>
          </a:xfrm>
          <a:prstGeom prst="rect">
            <a:avLst/>
          </a:prstGeom>
          <a:ln>
            <a:solidFill>
              <a:schemeClr val="tx1"/>
            </a:solidFill>
          </a:ln>
        </p:spPr>
      </p:pic>
      <p:sp>
        <p:nvSpPr>
          <p:cNvPr id="16" name="TextBox 15">
            <a:extLst>
              <a:ext uri="{FF2B5EF4-FFF2-40B4-BE49-F238E27FC236}">
                <a16:creationId xmlns:a16="http://schemas.microsoft.com/office/drawing/2014/main" id="{15F6F0DD-473B-329B-BA78-EF79086B36B0}"/>
              </a:ext>
            </a:extLst>
          </p:cNvPr>
          <p:cNvSpPr txBox="1"/>
          <p:nvPr/>
        </p:nvSpPr>
        <p:spPr>
          <a:xfrm>
            <a:off x="8829080" y="1225295"/>
            <a:ext cx="3300168" cy="738664"/>
          </a:xfrm>
          <a:prstGeom prst="rect">
            <a:avLst/>
          </a:prstGeom>
          <a:noFill/>
        </p:spPr>
        <p:txBody>
          <a:bodyPr wrap="square" rtlCol="0">
            <a:spAutoFit/>
          </a:bodyPr>
          <a:lstStyle/>
          <a:p>
            <a:r>
              <a:rPr lang="en-US" sz="1400" b="1" dirty="0"/>
              <a:t>Notes:</a:t>
            </a:r>
          </a:p>
          <a:p>
            <a:pPr marL="342900" indent="-342900">
              <a:buFont typeface="Arial" panose="020B0604020202020204" pitchFamily="34" charset="0"/>
              <a:buChar char="•"/>
            </a:pPr>
            <a:r>
              <a:rPr lang="en-US" sz="1400" dirty="0"/>
              <a:t>Mixes 3x times (10uL) after pipetting buffer</a:t>
            </a:r>
          </a:p>
        </p:txBody>
      </p:sp>
      <p:grpSp>
        <p:nvGrpSpPr>
          <p:cNvPr id="19" name="Group 18">
            <a:extLst>
              <a:ext uri="{FF2B5EF4-FFF2-40B4-BE49-F238E27FC236}">
                <a16:creationId xmlns:a16="http://schemas.microsoft.com/office/drawing/2014/main" id="{C1FC240E-898D-65EC-DCB7-A2DABFFFB5A1}"/>
              </a:ext>
            </a:extLst>
          </p:cNvPr>
          <p:cNvGrpSpPr/>
          <p:nvPr/>
        </p:nvGrpSpPr>
        <p:grpSpPr>
          <a:xfrm>
            <a:off x="165846" y="1328415"/>
            <a:ext cx="1630609" cy="4277790"/>
            <a:chOff x="4002701" y="1144421"/>
            <a:chExt cx="1557094" cy="4084928"/>
          </a:xfrm>
        </p:grpSpPr>
        <p:pic>
          <p:nvPicPr>
            <p:cNvPr id="20" name="Picture 19">
              <a:extLst>
                <a:ext uri="{FF2B5EF4-FFF2-40B4-BE49-F238E27FC236}">
                  <a16:creationId xmlns:a16="http://schemas.microsoft.com/office/drawing/2014/main" id="{3820B68B-7BFD-0ED4-2AA0-98A810E5A701}"/>
                </a:ext>
              </a:extLst>
            </p:cNvPr>
            <p:cNvPicPr>
              <a:picLocks noChangeAspect="1"/>
            </p:cNvPicPr>
            <p:nvPr/>
          </p:nvPicPr>
          <p:blipFill>
            <a:blip r:embed="rId6"/>
            <a:srcRect l="78161"/>
            <a:stretch>
              <a:fillRect/>
            </a:stretch>
          </p:blipFill>
          <p:spPr>
            <a:xfrm>
              <a:off x="4002701" y="1415282"/>
              <a:ext cx="1557094" cy="3814067"/>
            </a:xfrm>
            <a:prstGeom prst="rect">
              <a:avLst/>
            </a:prstGeom>
            <a:ln>
              <a:solidFill>
                <a:schemeClr val="tx1"/>
              </a:solidFill>
            </a:ln>
          </p:spPr>
        </p:pic>
        <p:sp>
          <p:nvSpPr>
            <p:cNvPr id="22" name="TextBox 21">
              <a:extLst>
                <a:ext uri="{FF2B5EF4-FFF2-40B4-BE49-F238E27FC236}">
                  <a16:creationId xmlns:a16="http://schemas.microsoft.com/office/drawing/2014/main" id="{9FA22876-CF06-59F5-B1B1-463D7E3B2FDB}"/>
                </a:ext>
              </a:extLst>
            </p:cNvPr>
            <p:cNvSpPr txBox="1"/>
            <p:nvPr/>
          </p:nvSpPr>
          <p:spPr>
            <a:xfrm>
              <a:off x="4105140" y="1144421"/>
              <a:ext cx="1257466" cy="293901"/>
            </a:xfrm>
            <a:prstGeom prst="rect">
              <a:avLst/>
            </a:prstGeom>
            <a:noFill/>
          </p:spPr>
          <p:txBody>
            <a:bodyPr wrap="none" rtlCol="0">
              <a:spAutoFit/>
            </a:bodyPr>
            <a:lstStyle/>
            <a:p>
              <a:r>
                <a:rPr lang="en-US" sz="1400" dirty="0"/>
                <a:t>Protocol Steps</a:t>
              </a:r>
            </a:p>
          </p:txBody>
        </p:sp>
      </p:grpSp>
      <p:sp>
        <p:nvSpPr>
          <p:cNvPr id="23" name="Rectangle 22">
            <a:extLst>
              <a:ext uri="{FF2B5EF4-FFF2-40B4-BE49-F238E27FC236}">
                <a16:creationId xmlns:a16="http://schemas.microsoft.com/office/drawing/2014/main" id="{46BB55A0-E715-BC6B-D0A9-0D534A7500F4}"/>
              </a:ext>
            </a:extLst>
          </p:cNvPr>
          <p:cNvSpPr/>
          <p:nvPr/>
        </p:nvSpPr>
        <p:spPr>
          <a:xfrm>
            <a:off x="330308" y="3696961"/>
            <a:ext cx="1344380" cy="7414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2E11A6-B773-1851-1E60-857971D27AF2}"/>
              </a:ext>
            </a:extLst>
          </p:cNvPr>
          <p:cNvSpPr/>
          <p:nvPr/>
        </p:nvSpPr>
        <p:spPr>
          <a:xfrm>
            <a:off x="299644" y="4504460"/>
            <a:ext cx="1405707" cy="7414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90F7045-38F6-37E4-0C8B-C8E83DDCB019}"/>
              </a:ext>
            </a:extLst>
          </p:cNvPr>
          <p:cNvSpPr txBox="1"/>
          <p:nvPr/>
        </p:nvSpPr>
        <p:spPr>
          <a:xfrm>
            <a:off x="2177414" y="817306"/>
            <a:ext cx="10902042" cy="276999"/>
          </a:xfrm>
          <a:prstGeom prst="rect">
            <a:avLst/>
          </a:prstGeom>
          <a:noFill/>
        </p:spPr>
        <p:txBody>
          <a:bodyPr wrap="square">
            <a:spAutoFit/>
          </a:bodyPr>
          <a:lstStyle/>
          <a:p>
            <a:r>
              <a:rPr lang="en-US" sz="1200" b="1" dirty="0"/>
              <a:t>6. Edit Protocol step 3 to select destination wells for pipetting XuL (3uL) 10x nucleoside digestion mix buffer</a:t>
            </a:r>
          </a:p>
        </p:txBody>
      </p:sp>
      <p:sp>
        <p:nvSpPr>
          <p:cNvPr id="28" name="TextBox 27">
            <a:extLst>
              <a:ext uri="{FF2B5EF4-FFF2-40B4-BE49-F238E27FC236}">
                <a16:creationId xmlns:a16="http://schemas.microsoft.com/office/drawing/2014/main" id="{F49688FC-CA6A-B68D-FBC8-771F46A42C8A}"/>
              </a:ext>
            </a:extLst>
          </p:cNvPr>
          <p:cNvSpPr txBox="1"/>
          <p:nvPr/>
        </p:nvSpPr>
        <p:spPr>
          <a:xfrm>
            <a:off x="2116365" y="4151566"/>
            <a:ext cx="10902042" cy="276999"/>
          </a:xfrm>
          <a:prstGeom prst="rect">
            <a:avLst/>
          </a:prstGeom>
          <a:noFill/>
        </p:spPr>
        <p:txBody>
          <a:bodyPr wrap="square">
            <a:spAutoFit/>
          </a:bodyPr>
          <a:lstStyle/>
          <a:p>
            <a:r>
              <a:rPr lang="en-US" sz="1200" b="1" dirty="0"/>
              <a:t>7. Edit Protocol step 4 to select destination wells for pipetting XuL (1uL) Nucleoside Digestion Mix</a:t>
            </a:r>
          </a:p>
        </p:txBody>
      </p:sp>
      <p:grpSp>
        <p:nvGrpSpPr>
          <p:cNvPr id="32" name="Group 31">
            <a:extLst>
              <a:ext uri="{FF2B5EF4-FFF2-40B4-BE49-F238E27FC236}">
                <a16:creationId xmlns:a16="http://schemas.microsoft.com/office/drawing/2014/main" id="{F2087408-DAA8-B505-784B-E8E67829B020}"/>
              </a:ext>
            </a:extLst>
          </p:cNvPr>
          <p:cNvGrpSpPr/>
          <p:nvPr/>
        </p:nvGrpSpPr>
        <p:grpSpPr>
          <a:xfrm>
            <a:off x="2301325" y="1161594"/>
            <a:ext cx="3539574" cy="1855983"/>
            <a:chOff x="2253041" y="1175587"/>
            <a:chExt cx="3539574" cy="1855983"/>
          </a:xfrm>
        </p:grpSpPr>
        <p:pic>
          <p:nvPicPr>
            <p:cNvPr id="3" name="Picture 2">
              <a:extLst>
                <a:ext uri="{FF2B5EF4-FFF2-40B4-BE49-F238E27FC236}">
                  <a16:creationId xmlns:a16="http://schemas.microsoft.com/office/drawing/2014/main" id="{4EC82F64-1F39-BDE6-75B2-2E3A065AE344}"/>
                </a:ext>
              </a:extLst>
            </p:cNvPr>
            <p:cNvPicPr>
              <a:picLocks noChangeAspect="1"/>
            </p:cNvPicPr>
            <p:nvPr/>
          </p:nvPicPr>
          <p:blipFill>
            <a:blip r:embed="rId7"/>
            <a:stretch>
              <a:fillRect/>
            </a:stretch>
          </p:blipFill>
          <p:spPr>
            <a:xfrm>
              <a:off x="2253041" y="1175587"/>
              <a:ext cx="3539574" cy="1855983"/>
            </a:xfrm>
            <a:prstGeom prst="rect">
              <a:avLst/>
            </a:prstGeom>
            <a:ln>
              <a:solidFill>
                <a:schemeClr val="tx1"/>
              </a:solidFill>
            </a:ln>
          </p:spPr>
        </p:pic>
        <p:sp>
          <p:nvSpPr>
            <p:cNvPr id="29" name="Rectangle 28">
              <a:extLst>
                <a:ext uri="{FF2B5EF4-FFF2-40B4-BE49-F238E27FC236}">
                  <a16:creationId xmlns:a16="http://schemas.microsoft.com/office/drawing/2014/main" id="{B29F73E5-F6CF-CDA9-81E0-06B99D91A387}"/>
                </a:ext>
              </a:extLst>
            </p:cNvPr>
            <p:cNvSpPr/>
            <p:nvPr/>
          </p:nvSpPr>
          <p:spPr>
            <a:xfrm>
              <a:off x="2253041" y="2020921"/>
              <a:ext cx="1344380" cy="7414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1" name="Straight Arrow Connector 30">
            <a:extLst>
              <a:ext uri="{FF2B5EF4-FFF2-40B4-BE49-F238E27FC236}">
                <a16:creationId xmlns:a16="http://schemas.microsoft.com/office/drawing/2014/main" id="{B349E5C9-828A-5783-4415-1281CD3F1D6C}"/>
              </a:ext>
            </a:extLst>
          </p:cNvPr>
          <p:cNvCxnSpPr>
            <a:cxnSpLocks/>
          </p:cNvCxnSpPr>
          <p:nvPr/>
        </p:nvCxnSpPr>
        <p:spPr>
          <a:xfrm flipV="1">
            <a:off x="5965498" y="2125470"/>
            <a:ext cx="261004"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6C7AC05E-D3A2-A5C8-BAAE-597ED0F58C14}"/>
              </a:ext>
            </a:extLst>
          </p:cNvPr>
          <p:cNvSpPr/>
          <p:nvPr/>
        </p:nvSpPr>
        <p:spPr>
          <a:xfrm>
            <a:off x="2237438" y="5460989"/>
            <a:ext cx="1344380" cy="7414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03F260AC-212C-D919-E280-AC803FF97437}"/>
              </a:ext>
            </a:extLst>
          </p:cNvPr>
          <p:cNvCxnSpPr>
            <a:cxnSpLocks/>
          </p:cNvCxnSpPr>
          <p:nvPr/>
        </p:nvCxnSpPr>
        <p:spPr>
          <a:xfrm flipV="1">
            <a:off x="6480203" y="5446579"/>
            <a:ext cx="261004"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Elbow Connector 35">
            <a:extLst>
              <a:ext uri="{FF2B5EF4-FFF2-40B4-BE49-F238E27FC236}">
                <a16:creationId xmlns:a16="http://schemas.microsoft.com/office/drawing/2014/main" id="{EDF56E79-7AB7-00A9-7569-78465C998A52}"/>
              </a:ext>
            </a:extLst>
          </p:cNvPr>
          <p:cNvCxnSpPr>
            <a:cxnSpLocks/>
            <a:stCxn id="23" idx="0"/>
            <a:endCxn id="29" idx="1"/>
          </p:cNvCxnSpPr>
          <p:nvPr/>
        </p:nvCxnSpPr>
        <p:spPr>
          <a:xfrm rot="5400000" flipH="1" flipV="1">
            <a:off x="992264" y="2387901"/>
            <a:ext cx="1319295" cy="1298827"/>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Elbow Connector 38">
            <a:extLst>
              <a:ext uri="{FF2B5EF4-FFF2-40B4-BE49-F238E27FC236}">
                <a16:creationId xmlns:a16="http://schemas.microsoft.com/office/drawing/2014/main" id="{DE33B6F0-65BC-D861-723B-D2FD0C22047D}"/>
              </a:ext>
            </a:extLst>
          </p:cNvPr>
          <p:cNvCxnSpPr>
            <a:cxnSpLocks/>
            <a:stCxn id="24" idx="2"/>
          </p:cNvCxnSpPr>
          <p:nvPr/>
        </p:nvCxnSpPr>
        <p:spPr>
          <a:xfrm rot="16200000" flipH="1">
            <a:off x="1269974" y="4978460"/>
            <a:ext cx="639964" cy="1174916"/>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B213F6A6-B0DE-C9B7-2D38-AA1CD186805E}"/>
              </a:ext>
            </a:extLst>
          </p:cNvPr>
          <p:cNvSpPr txBox="1"/>
          <p:nvPr/>
        </p:nvSpPr>
        <p:spPr>
          <a:xfrm>
            <a:off x="9168102" y="4428565"/>
            <a:ext cx="2858051" cy="738664"/>
          </a:xfrm>
          <a:prstGeom prst="rect">
            <a:avLst/>
          </a:prstGeom>
          <a:noFill/>
        </p:spPr>
        <p:txBody>
          <a:bodyPr wrap="square" rtlCol="0">
            <a:spAutoFit/>
          </a:bodyPr>
          <a:lstStyle/>
          <a:p>
            <a:r>
              <a:rPr lang="en-US" sz="1400" b="1" dirty="0"/>
              <a:t>Notes:</a:t>
            </a:r>
          </a:p>
          <a:p>
            <a:pPr marL="342900" indent="-342900">
              <a:buFont typeface="Arial" panose="020B0604020202020204" pitchFamily="34" charset="0"/>
              <a:buChar char="•"/>
            </a:pPr>
            <a:r>
              <a:rPr lang="en-US" sz="1400" dirty="0"/>
              <a:t>Mixes 5x times (10uL) after pipetting NDM</a:t>
            </a:r>
          </a:p>
        </p:txBody>
      </p:sp>
    </p:spTree>
    <p:extLst>
      <p:ext uri="{BB962C8B-B14F-4D97-AF65-F5344CB8AC3E}">
        <p14:creationId xmlns:p14="http://schemas.microsoft.com/office/powerpoint/2010/main" val="2464635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08556-EFC9-187A-DEFA-8A404958F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D175C-2764-2E1B-10A3-9D0E66826FC2}"/>
              </a:ext>
            </a:extLst>
          </p:cNvPr>
          <p:cNvSpPr>
            <a:spLocks noGrp="1"/>
          </p:cNvSpPr>
          <p:nvPr>
            <p:ph type="title"/>
          </p:nvPr>
        </p:nvSpPr>
        <p:spPr>
          <a:xfrm>
            <a:off x="0" y="-384269"/>
            <a:ext cx="12129247" cy="1325563"/>
          </a:xfrm>
        </p:spPr>
        <p:txBody>
          <a:bodyPr>
            <a:normAutofit/>
          </a:bodyPr>
          <a:lstStyle/>
          <a:p>
            <a:r>
              <a:rPr lang="en-US" sz="2800" u="sng" dirty="0"/>
              <a:t>Step8-10: Double Check everything is correct and run the protocol.</a:t>
            </a:r>
          </a:p>
        </p:txBody>
      </p:sp>
      <p:pic>
        <p:nvPicPr>
          <p:cNvPr id="9" name="Picture 8">
            <a:extLst>
              <a:ext uri="{FF2B5EF4-FFF2-40B4-BE49-F238E27FC236}">
                <a16:creationId xmlns:a16="http://schemas.microsoft.com/office/drawing/2014/main" id="{4C2AACBF-769A-856F-AA7A-1CA3B1AA59A0}"/>
              </a:ext>
            </a:extLst>
          </p:cNvPr>
          <p:cNvPicPr>
            <a:picLocks noChangeAspect="1"/>
          </p:cNvPicPr>
          <p:nvPr/>
        </p:nvPicPr>
        <p:blipFill>
          <a:blip r:embed="rId3"/>
          <a:stretch>
            <a:fillRect/>
          </a:stretch>
        </p:blipFill>
        <p:spPr>
          <a:xfrm>
            <a:off x="1756880" y="1235825"/>
            <a:ext cx="7772400" cy="3616981"/>
          </a:xfrm>
          <a:prstGeom prst="rect">
            <a:avLst/>
          </a:prstGeom>
          <a:ln>
            <a:solidFill>
              <a:schemeClr val="tx1"/>
            </a:solidFill>
          </a:ln>
        </p:spPr>
      </p:pic>
      <p:sp>
        <p:nvSpPr>
          <p:cNvPr id="10" name="Rectangle 9">
            <a:extLst>
              <a:ext uri="{FF2B5EF4-FFF2-40B4-BE49-F238E27FC236}">
                <a16:creationId xmlns:a16="http://schemas.microsoft.com/office/drawing/2014/main" id="{09F8C48F-D5B8-0765-B639-46E039E46AAD}"/>
              </a:ext>
            </a:extLst>
          </p:cNvPr>
          <p:cNvSpPr/>
          <p:nvPr/>
        </p:nvSpPr>
        <p:spPr>
          <a:xfrm>
            <a:off x="8042336" y="4568333"/>
            <a:ext cx="1486944" cy="3082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8C920E1-0224-374F-F0CD-3D22216A85EE}"/>
              </a:ext>
            </a:extLst>
          </p:cNvPr>
          <p:cNvSpPr txBox="1"/>
          <p:nvPr/>
        </p:nvSpPr>
        <p:spPr>
          <a:xfrm>
            <a:off x="194503" y="516754"/>
            <a:ext cx="10902042" cy="461665"/>
          </a:xfrm>
          <a:prstGeom prst="rect">
            <a:avLst/>
          </a:prstGeom>
          <a:noFill/>
        </p:spPr>
        <p:txBody>
          <a:bodyPr wrap="square">
            <a:spAutoFit/>
          </a:bodyPr>
          <a:lstStyle/>
          <a:p>
            <a:r>
              <a:rPr lang="en-US" sz="1200" b="1" dirty="0"/>
              <a:t>8. Click on the protocol step 6 “END” to get a snapshot of what the final workspace will look like. You can click on the source plate and the target destination plate to see what is in each plate at the end of the protocol. </a:t>
            </a:r>
          </a:p>
        </p:txBody>
      </p:sp>
      <p:sp>
        <p:nvSpPr>
          <p:cNvPr id="12" name="TextBox 11">
            <a:extLst>
              <a:ext uri="{FF2B5EF4-FFF2-40B4-BE49-F238E27FC236}">
                <a16:creationId xmlns:a16="http://schemas.microsoft.com/office/drawing/2014/main" id="{142EEA8C-EDFE-9E50-E30D-CBC2B42CE16C}"/>
              </a:ext>
            </a:extLst>
          </p:cNvPr>
          <p:cNvSpPr txBox="1"/>
          <p:nvPr/>
        </p:nvSpPr>
        <p:spPr>
          <a:xfrm>
            <a:off x="192059" y="4876558"/>
            <a:ext cx="10902042" cy="1015663"/>
          </a:xfrm>
          <a:prstGeom prst="rect">
            <a:avLst/>
          </a:prstGeom>
          <a:noFill/>
        </p:spPr>
        <p:txBody>
          <a:bodyPr wrap="square">
            <a:spAutoFit/>
          </a:bodyPr>
          <a:lstStyle/>
          <a:p>
            <a:r>
              <a:rPr lang="en-US" sz="1200" b="1" dirty="0"/>
              <a:t>9. Once satisfied, click Execute at the top of the designer page to start the Andrew+ setup.</a:t>
            </a:r>
          </a:p>
          <a:p>
            <a:endParaRPr lang="en-US" sz="1200" b="1" dirty="0"/>
          </a:p>
          <a:p>
            <a:pPr marL="628650" lvl="1" indent="-171450">
              <a:buFont typeface="Arial" panose="020B0604020202020204" pitchFamily="34" charset="0"/>
              <a:buChar char="•"/>
            </a:pPr>
            <a:r>
              <a:rPr lang="en-US" sz="1200" dirty="0"/>
              <a:t>There will be a ton of prompts directing you on where to put the dominos and reagents for the experiment. </a:t>
            </a:r>
          </a:p>
          <a:p>
            <a:pPr marL="628650" lvl="1" indent="-171450">
              <a:buFont typeface="Arial" panose="020B0604020202020204" pitchFamily="34" charset="0"/>
              <a:buChar char="•"/>
            </a:pPr>
            <a:r>
              <a:rPr lang="en-US" sz="1200" dirty="0"/>
              <a:t>When setting up the dominos, make sure the left most domino is up against the flat part of the waste collection area. If not there will be an error saying that the workspace is invalid. </a:t>
            </a:r>
          </a:p>
        </p:txBody>
      </p:sp>
      <p:sp>
        <p:nvSpPr>
          <p:cNvPr id="13" name="TextBox 12">
            <a:extLst>
              <a:ext uri="{FF2B5EF4-FFF2-40B4-BE49-F238E27FC236}">
                <a16:creationId xmlns:a16="http://schemas.microsoft.com/office/drawing/2014/main" id="{AFEAB536-BAFB-40DB-6846-77C856DA5430}"/>
              </a:ext>
            </a:extLst>
          </p:cNvPr>
          <p:cNvSpPr txBox="1"/>
          <p:nvPr/>
        </p:nvSpPr>
        <p:spPr>
          <a:xfrm>
            <a:off x="192059" y="6064247"/>
            <a:ext cx="10902042" cy="276999"/>
          </a:xfrm>
          <a:prstGeom prst="rect">
            <a:avLst/>
          </a:prstGeom>
          <a:noFill/>
        </p:spPr>
        <p:txBody>
          <a:bodyPr wrap="square">
            <a:spAutoFit/>
          </a:bodyPr>
          <a:lstStyle/>
          <a:p>
            <a:r>
              <a:rPr lang="en-US" sz="1200" b="1" dirty="0"/>
              <a:t>10. Seal plate and transfer to thermal cycler</a:t>
            </a:r>
            <a:endParaRPr lang="en-US" sz="1200" dirty="0"/>
          </a:p>
        </p:txBody>
      </p:sp>
    </p:spTree>
    <p:extLst>
      <p:ext uri="{BB962C8B-B14F-4D97-AF65-F5344CB8AC3E}">
        <p14:creationId xmlns:p14="http://schemas.microsoft.com/office/powerpoint/2010/main" val="4100704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D22E8-36E5-C9CD-D2B6-A833FFDB9A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415BC2-B14D-4AA9-EC3B-A00D2DCC8A3F}"/>
              </a:ext>
            </a:extLst>
          </p:cNvPr>
          <p:cNvSpPr>
            <a:spLocks noGrp="1"/>
          </p:cNvSpPr>
          <p:nvPr>
            <p:ph type="ctrTitle"/>
          </p:nvPr>
        </p:nvSpPr>
        <p:spPr/>
        <p:txBody>
          <a:bodyPr>
            <a:normAutofit fontScale="90000"/>
          </a:bodyPr>
          <a:lstStyle/>
          <a:p>
            <a:r>
              <a:rPr lang="en-US" dirty="0"/>
              <a:t>Transferring Nucleosides from 96 well plate to HPLC vials</a:t>
            </a:r>
          </a:p>
        </p:txBody>
      </p:sp>
      <p:sp>
        <p:nvSpPr>
          <p:cNvPr id="5" name="Subtitle 4">
            <a:extLst>
              <a:ext uri="{FF2B5EF4-FFF2-40B4-BE49-F238E27FC236}">
                <a16:creationId xmlns:a16="http://schemas.microsoft.com/office/drawing/2014/main" id="{2BED5B27-1BCB-738C-B34A-885BE9C7D03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30672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5957218-BC8A-E002-4594-971AC67D789D}"/>
              </a:ext>
            </a:extLst>
          </p:cNvPr>
          <p:cNvSpPr>
            <a:spLocks noGrp="1"/>
          </p:cNvSpPr>
          <p:nvPr>
            <p:ph type="title"/>
          </p:nvPr>
        </p:nvSpPr>
        <p:spPr>
          <a:xfrm>
            <a:off x="0" y="-375612"/>
            <a:ext cx="12129247" cy="1325563"/>
          </a:xfrm>
        </p:spPr>
        <p:txBody>
          <a:bodyPr>
            <a:normAutofit/>
          </a:bodyPr>
          <a:lstStyle/>
          <a:p>
            <a:r>
              <a:rPr lang="en-US" sz="2800" u="sng" dirty="0"/>
              <a:t>Step1: Open the </a:t>
            </a:r>
            <a:r>
              <a:rPr lang="en-US" sz="2800" u="sng" dirty="0" err="1"/>
              <a:t>OneLab</a:t>
            </a:r>
            <a:r>
              <a:rPr lang="en-US" sz="2800" u="sng" dirty="0"/>
              <a:t> Nucleoside Digestion Protocol for Editing</a:t>
            </a:r>
          </a:p>
        </p:txBody>
      </p:sp>
      <p:pic>
        <p:nvPicPr>
          <p:cNvPr id="5" name="Picture 4">
            <a:extLst>
              <a:ext uri="{FF2B5EF4-FFF2-40B4-BE49-F238E27FC236}">
                <a16:creationId xmlns:a16="http://schemas.microsoft.com/office/drawing/2014/main" id="{0EB321BD-9880-7809-E45F-3100E5A6B7A0}"/>
              </a:ext>
            </a:extLst>
          </p:cNvPr>
          <p:cNvPicPr>
            <a:picLocks noChangeAspect="1"/>
          </p:cNvPicPr>
          <p:nvPr/>
        </p:nvPicPr>
        <p:blipFill>
          <a:blip r:embed="rId2"/>
          <a:stretch>
            <a:fillRect/>
          </a:stretch>
        </p:blipFill>
        <p:spPr>
          <a:xfrm>
            <a:off x="266233" y="1627603"/>
            <a:ext cx="5798390" cy="4575058"/>
          </a:xfrm>
          <a:prstGeom prst="rect">
            <a:avLst/>
          </a:prstGeom>
          <a:ln>
            <a:solidFill>
              <a:schemeClr val="tx1"/>
            </a:solidFill>
          </a:ln>
        </p:spPr>
      </p:pic>
      <p:sp>
        <p:nvSpPr>
          <p:cNvPr id="8" name="TextBox 7">
            <a:extLst>
              <a:ext uri="{FF2B5EF4-FFF2-40B4-BE49-F238E27FC236}">
                <a16:creationId xmlns:a16="http://schemas.microsoft.com/office/drawing/2014/main" id="{1BFD6DB6-235A-0C2E-3642-A5ABDEA529FE}"/>
              </a:ext>
            </a:extLst>
          </p:cNvPr>
          <p:cNvSpPr txBox="1"/>
          <p:nvPr/>
        </p:nvSpPr>
        <p:spPr>
          <a:xfrm>
            <a:off x="62753" y="458052"/>
            <a:ext cx="9309282" cy="1169551"/>
          </a:xfrm>
          <a:prstGeom prst="rect">
            <a:avLst/>
          </a:prstGeom>
          <a:noFill/>
        </p:spPr>
        <p:txBody>
          <a:bodyPr wrap="square">
            <a:spAutoFit/>
          </a:bodyPr>
          <a:lstStyle/>
          <a:p>
            <a:r>
              <a:rPr lang="en-US" sz="1400" b="1" dirty="0"/>
              <a:t>1. Open </a:t>
            </a:r>
            <a:r>
              <a:rPr lang="en-US" sz="1400" b="1" dirty="0" err="1"/>
              <a:t>Onelab</a:t>
            </a:r>
            <a:r>
              <a:rPr lang="en-US" sz="1400" b="1" dirty="0"/>
              <a:t> protocol: Transfer96well_HPLCvial_0.2mLGlass</a:t>
            </a:r>
          </a:p>
          <a:p>
            <a:pPr marL="742950" lvl="1" indent="-285750">
              <a:buFont typeface="Arial" panose="020B0604020202020204" pitchFamily="34" charset="0"/>
              <a:buChar char="•"/>
            </a:pPr>
            <a:r>
              <a:rPr lang="en-US" sz="1400" dirty="0"/>
              <a:t>https://</a:t>
            </a:r>
            <a:r>
              <a:rPr lang="en-US" sz="1400" dirty="0" err="1"/>
              <a:t>onelab.andrewalliance.com</a:t>
            </a:r>
            <a:r>
              <a:rPr lang="en-US" sz="1400" dirty="0"/>
              <a:t>/</a:t>
            </a:r>
          </a:p>
          <a:p>
            <a:pPr marL="742950" lvl="1" indent="-285750">
              <a:buFont typeface="Arial" panose="020B0604020202020204" pitchFamily="34" charset="0"/>
              <a:buChar char="•"/>
            </a:pPr>
            <a:r>
              <a:rPr lang="en-US" sz="1400" dirty="0"/>
              <a:t>Located in the Correa Lab home directory</a:t>
            </a:r>
          </a:p>
          <a:p>
            <a:pPr marL="1257300" lvl="2" indent="-342900">
              <a:buFont typeface="Arial" panose="020B0604020202020204" pitchFamily="34" charset="0"/>
              <a:buChar char="•"/>
            </a:pPr>
            <a:r>
              <a:rPr lang="en-US" sz="1400" dirty="0"/>
              <a:t>Projects/Automation Templates/Transfer96well_HPLCvial_0.2mLGlass</a:t>
            </a:r>
          </a:p>
          <a:p>
            <a:pPr marL="1200150" lvl="2" indent="-285750">
              <a:buFont typeface="Arial" panose="020B0604020202020204" pitchFamily="34" charset="0"/>
              <a:buChar char="•"/>
            </a:pPr>
            <a:endParaRPr lang="en-US" sz="1400" dirty="0"/>
          </a:p>
        </p:txBody>
      </p:sp>
      <p:pic>
        <p:nvPicPr>
          <p:cNvPr id="10" name="Picture 9">
            <a:extLst>
              <a:ext uri="{FF2B5EF4-FFF2-40B4-BE49-F238E27FC236}">
                <a16:creationId xmlns:a16="http://schemas.microsoft.com/office/drawing/2014/main" id="{F4829B80-317E-9F77-7353-8AE071FB78CD}"/>
              </a:ext>
            </a:extLst>
          </p:cNvPr>
          <p:cNvPicPr>
            <a:picLocks noChangeAspect="1"/>
          </p:cNvPicPr>
          <p:nvPr/>
        </p:nvPicPr>
        <p:blipFill>
          <a:blip r:embed="rId3"/>
          <a:srcRect l="28994" t="11515" r="31386" b="15376"/>
          <a:stretch>
            <a:fillRect/>
          </a:stretch>
        </p:blipFill>
        <p:spPr>
          <a:xfrm rot="5400000">
            <a:off x="9522517" y="4042553"/>
            <a:ext cx="2016216" cy="2790284"/>
          </a:xfrm>
          <a:prstGeom prst="rect">
            <a:avLst/>
          </a:prstGeom>
        </p:spPr>
      </p:pic>
      <p:pic>
        <p:nvPicPr>
          <p:cNvPr id="12" name="Picture 11">
            <a:extLst>
              <a:ext uri="{FF2B5EF4-FFF2-40B4-BE49-F238E27FC236}">
                <a16:creationId xmlns:a16="http://schemas.microsoft.com/office/drawing/2014/main" id="{EA9B40FC-5B90-0708-2CCC-8F652A053B1A}"/>
              </a:ext>
            </a:extLst>
          </p:cNvPr>
          <p:cNvPicPr>
            <a:picLocks noChangeAspect="1"/>
          </p:cNvPicPr>
          <p:nvPr/>
        </p:nvPicPr>
        <p:blipFill>
          <a:blip r:embed="rId4"/>
          <a:srcRect l="16929" t="17907" r="14758" b="15576"/>
          <a:stretch>
            <a:fillRect/>
          </a:stretch>
        </p:blipFill>
        <p:spPr>
          <a:xfrm rot="5400000">
            <a:off x="6470873" y="4288708"/>
            <a:ext cx="2769927" cy="2022776"/>
          </a:xfrm>
          <a:prstGeom prst="rect">
            <a:avLst/>
          </a:prstGeom>
        </p:spPr>
      </p:pic>
      <p:sp>
        <p:nvSpPr>
          <p:cNvPr id="13" name="TextBox 12">
            <a:extLst>
              <a:ext uri="{FF2B5EF4-FFF2-40B4-BE49-F238E27FC236}">
                <a16:creationId xmlns:a16="http://schemas.microsoft.com/office/drawing/2014/main" id="{6ACC7E97-A0FD-9A53-E8F9-71140527DA39}"/>
              </a:ext>
            </a:extLst>
          </p:cNvPr>
          <p:cNvSpPr txBox="1"/>
          <p:nvPr/>
        </p:nvSpPr>
        <p:spPr>
          <a:xfrm>
            <a:off x="7096095" y="646804"/>
            <a:ext cx="4958839" cy="2246769"/>
          </a:xfrm>
          <a:prstGeom prst="rect">
            <a:avLst/>
          </a:prstGeom>
          <a:noFill/>
        </p:spPr>
        <p:txBody>
          <a:bodyPr wrap="square" rtlCol="0">
            <a:spAutoFit/>
          </a:bodyPr>
          <a:lstStyle/>
          <a:p>
            <a:r>
              <a:rPr lang="en-US" sz="1400" b="1" dirty="0"/>
              <a:t>Notes:</a:t>
            </a:r>
          </a:p>
          <a:p>
            <a:pPr marL="342900" indent="-342900">
              <a:buFont typeface="Arial" panose="020B0604020202020204" pitchFamily="34" charset="0"/>
              <a:buChar char="•"/>
            </a:pPr>
            <a:r>
              <a:rPr lang="en-US" sz="1400" dirty="0"/>
              <a:t>We do not have the Agilent HPLC vial rack holder and the Glass 0.2mL </a:t>
            </a:r>
            <a:r>
              <a:rPr lang="en-US" sz="1400" dirty="0" err="1"/>
              <a:t>Thermo</a:t>
            </a:r>
            <a:r>
              <a:rPr lang="en-US" sz="1400" dirty="0"/>
              <a:t> HPLC vials are not in the </a:t>
            </a:r>
            <a:r>
              <a:rPr lang="en-US" sz="1400" dirty="0" err="1"/>
              <a:t>Opentrons</a:t>
            </a:r>
            <a:r>
              <a:rPr lang="en-US" sz="1400" dirty="0"/>
              <a:t> labware library.</a:t>
            </a:r>
          </a:p>
          <a:p>
            <a:pPr marL="342900" indent="-342900">
              <a:buFont typeface="Arial" panose="020B0604020202020204" pitchFamily="34" charset="0"/>
              <a:buChar char="•"/>
            </a:pPr>
            <a:r>
              <a:rPr lang="en-US" sz="1400" dirty="0"/>
              <a:t>We have to trick the Andrew+ and use similar labware that is available + offset adjustment for pipetting.</a:t>
            </a:r>
          </a:p>
          <a:p>
            <a:pPr marL="800100" lvl="1" indent="-342900">
              <a:buFont typeface="Arial" panose="020B0604020202020204" pitchFamily="34" charset="0"/>
              <a:buChar char="•"/>
            </a:pPr>
            <a:endParaRPr lang="en-US" sz="1400" dirty="0"/>
          </a:p>
          <a:p>
            <a:pPr marL="800100" lvl="1" indent="-342900">
              <a:buFont typeface="Arial" panose="020B0604020202020204" pitchFamily="34" charset="0"/>
              <a:buChar char="•"/>
            </a:pPr>
            <a:r>
              <a:rPr lang="en-US" sz="1400" dirty="0"/>
              <a:t>HPLC vial rack domino -&gt; Storage plate + HPLC rack </a:t>
            </a:r>
          </a:p>
          <a:p>
            <a:pPr marL="800100" lvl="1" indent="-342900">
              <a:buFont typeface="Arial" panose="020B0604020202020204" pitchFamily="34" charset="0"/>
              <a:buChar char="•"/>
            </a:pPr>
            <a:r>
              <a:rPr lang="en-US" sz="1400" dirty="0"/>
              <a:t>Agilent 2mL 12x33mm -&gt; </a:t>
            </a:r>
            <a:r>
              <a:rPr lang="en-US" sz="1400" dirty="0" err="1"/>
              <a:t>Thermo</a:t>
            </a:r>
            <a:r>
              <a:rPr lang="en-US" sz="1400" dirty="0"/>
              <a:t> 0.2mL Glass HPLC Vials</a:t>
            </a:r>
          </a:p>
        </p:txBody>
      </p:sp>
      <p:sp>
        <p:nvSpPr>
          <p:cNvPr id="14" name="TextBox 13">
            <a:extLst>
              <a:ext uri="{FF2B5EF4-FFF2-40B4-BE49-F238E27FC236}">
                <a16:creationId xmlns:a16="http://schemas.microsoft.com/office/drawing/2014/main" id="{18095852-1539-6DD8-7000-9F65AB6A5E4D}"/>
              </a:ext>
            </a:extLst>
          </p:cNvPr>
          <p:cNvSpPr txBox="1"/>
          <p:nvPr/>
        </p:nvSpPr>
        <p:spPr>
          <a:xfrm>
            <a:off x="8517276" y="770562"/>
            <a:ext cx="184731" cy="369332"/>
          </a:xfrm>
          <a:prstGeom prst="rect">
            <a:avLst/>
          </a:prstGeom>
          <a:noFill/>
        </p:spPr>
        <p:txBody>
          <a:bodyPr wrap="none" rtlCol="0">
            <a:spAutoFit/>
          </a:bodyPr>
          <a:lstStyle/>
          <a:p>
            <a:endParaRPr lang="en-US" dirty="0"/>
          </a:p>
        </p:txBody>
      </p:sp>
      <p:sp>
        <p:nvSpPr>
          <p:cNvPr id="16" name="TextBox 15">
            <a:extLst>
              <a:ext uri="{FF2B5EF4-FFF2-40B4-BE49-F238E27FC236}">
                <a16:creationId xmlns:a16="http://schemas.microsoft.com/office/drawing/2014/main" id="{64A8F35F-1E70-8F41-D6C9-AAE152446024}"/>
              </a:ext>
            </a:extLst>
          </p:cNvPr>
          <p:cNvSpPr txBox="1"/>
          <p:nvPr/>
        </p:nvSpPr>
        <p:spPr>
          <a:xfrm>
            <a:off x="8251580" y="3510006"/>
            <a:ext cx="2824619" cy="369332"/>
          </a:xfrm>
          <a:prstGeom prst="rect">
            <a:avLst/>
          </a:prstGeom>
          <a:noFill/>
        </p:spPr>
        <p:txBody>
          <a:bodyPr wrap="none" rtlCol="0">
            <a:spAutoFit/>
          </a:bodyPr>
          <a:lstStyle/>
          <a:p>
            <a:r>
              <a:rPr lang="en-US" dirty="0"/>
              <a:t>Storage Plate + HPLC Rack</a:t>
            </a:r>
          </a:p>
        </p:txBody>
      </p:sp>
    </p:spTree>
    <p:extLst>
      <p:ext uri="{BB962C8B-B14F-4D97-AF65-F5344CB8AC3E}">
        <p14:creationId xmlns:p14="http://schemas.microsoft.com/office/powerpoint/2010/main" val="4098818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351D9-A2DD-4E38-0EFB-61BB9481789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B56BBEB-050F-44F7-A152-53690302F80E}"/>
              </a:ext>
            </a:extLst>
          </p:cNvPr>
          <p:cNvPicPr>
            <a:picLocks noChangeAspect="1"/>
          </p:cNvPicPr>
          <p:nvPr/>
        </p:nvPicPr>
        <p:blipFill>
          <a:blip r:embed="rId2"/>
          <a:srcRect r="11325" b="69673"/>
          <a:stretch>
            <a:fillRect/>
          </a:stretch>
        </p:blipFill>
        <p:spPr>
          <a:xfrm>
            <a:off x="6739594" y="2294369"/>
            <a:ext cx="5231436" cy="1696052"/>
          </a:xfrm>
          <a:prstGeom prst="rect">
            <a:avLst/>
          </a:prstGeom>
        </p:spPr>
      </p:pic>
      <p:sp>
        <p:nvSpPr>
          <p:cNvPr id="12" name="TextBox 11">
            <a:extLst>
              <a:ext uri="{FF2B5EF4-FFF2-40B4-BE49-F238E27FC236}">
                <a16:creationId xmlns:a16="http://schemas.microsoft.com/office/drawing/2014/main" id="{097322A1-6840-2691-E510-48C5CF9035A0}"/>
              </a:ext>
            </a:extLst>
          </p:cNvPr>
          <p:cNvSpPr txBox="1"/>
          <p:nvPr/>
        </p:nvSpPr>
        <p:spPr>
          <a:xfrm>
            <a:off x="0" y="0"/>
            <a:ext cx="11835829" cy="954107"/>
          </a:xfrm>
          <a:prstGeom prst="rect">
            <a:avLst/>
          </a:prstGeom>
          <a:noFill/>
        </p:spPr>
        <p:txBody>
          <a:bodyPr wrap="square">
            <a:spAutoFit/>
          </a:bodyPr>
          <a:lstStyle/>
          <a:p>
            <a:r>
              <a:rPr lang="en-US" sz="2800" u="sng" dirty="0"/>
              <a:t>Step2: Input the samples and volumes of the nucleoside digestion into the source plate</a:t>
            </a:r>
            <a:endParaRPr lang="en-US" dirty="0"/>
          </a:p>
        </p:txBody>
      </p:sp>
      <p:grpSp>
        <p:nvGrpSpPr>
          <p:cNvPr id="17" name="Group 16">
            <a:extLst>
              <a:ext uri="{FF2B5EF4-FFF2-40B4-BE49-F238E27FC236}">
                <a16:creationId xmlns:a16="http://schemas.microsoft.com/office/drawing/2014/main" id="{BE8ABC20-1BB1-3DA5-1EF5-A105550C1B30}"/>
              </a:ext>
            </a:extLst>
          </p:cNvPr>
          <p:cNvGrpSpPr/>
          <p:nvPr/>
        </p:nvGrpSpPr>
        <p:grpSpPr>
          <a:xfrm>
            <a:off x="29290" y="2015917"/>
            <a:ext cx="5529078" cy="2439844"/>
            <a:chOff x="261814" y="2800313"/>
            <a:chExt cx="5529078" cy="2439844"/>
          </a:xfrm>
        </p:grpSpPr>
        <p:pic>
          <p:nvPicPr>
            <p:cNvPr id="5" name="Picture 4">
              <a:extLst>
                <a:ext uri="{FF2B5EF4-FFF2-40B4-BE49-F238E27FC236}">
                  <a16:creationId xmlns:a16="http://schemas.microsoft.com/office/drawing/2014/main" id="{585FF2C7-FA2F-91DA-3BE3-C7FCF6A53CE1}"/>
                </a:ext>
              </a:extLst>
            </p:cNvPr>
            <p:cNvPicPr>
              <a:picLocks noChangeAspect="1"/>
            </p:cNvPicPr>
            <p:nvPr/>
          </p:nvPicPr>
          <p:blipFill>
            <a:blip r:embed="rId3"/>
            <a:stretch>
              <a:fillRect/>
            </a:stretch>
          </p:blipFill>
          <p:spPr>
            <a:xfrm>
              <a:off x="261814" y="2800313"/>
              <a:ext cx="5471166" cy="2439844"/>
            </a:xfrm>
            <a:prstGeom prst="rect">
              <a:avLst/>
            </a:prstGeom>
            <a:ln>
              <a:solidFill>
                <a:schemeClr val="tx1"/>
              </a:solidFill>
            </a:ln>
          </p:spPr>
        </p:pic>
        <p:sp>
          <p:nvSpPr>
            <p:cNvPr id="13" name="TextBox 12">
              <a:extLst>
                <a:ext uri="{FF2B5EF4-FFF2-40B4-BE49-F238E27FC236}">
                  <a16:creationId xmlns:a16="http://schemas.microsoft.com/office/drawing/2014/main" id="{B8CF0167-2598-5BC8-DD6D-21C791356B3F}"/>
                </a:ext>
              </a:extLst>
            </p:cNvPr>
            <p:cNvSpPr txBox="1"/>
            <p:nvPr/>
          </p:nvSpPr>
          <p:spPr>
            <a:xfrm>
              <a:off x="976045" y="2800313"/>
              <a:ext cx="1439881" cy="369332"/>
            </a:xfrm>
            <a:prstGeom prst="rect">
              <a:avLst/>
            </a:prstGeom>
            <a:noFill/>
            <a:ln>
              <a:solidFill>
                <a:schemeClr val="tx1"/>
              </a:solidFill>
            </a:ln>
          </p:spPr>
          <p:txBody>
            <a:bodyPr wrap="none" rtlCol="0">
              <a:spAutoFit/>
            </a:bodyPr>
            <a:lstStyle/>
            <a:p>
              <a:r>
                <a:rPr lang="en-US" dirty="0"/>
                <a:t>Source plate</a:t>
              </a:r>
            </a:p>
          </p:txBody>
        </p:sp>
        <p:sp>
          <p:nvSpPr>
            <p:cNvPr id="14" name="Rectangle 13">
              <a:extLst>
                <a:ext uri="{FF2B5EF4-FFF2-40B4-BE49-F238E27FC236}">
                  <a16:creationId xmlns:a16="http://schemas.microsoft.com/office/drawing/2014/main" id="{0C9F614C-0E70-BDBE-BCFE-44B9F64AC5DD}"/>
                </a:ext>
              </a:extLst>
            </p:cNvPr>
            <p:cNvSpPr/>
            <p:nvPr/>
          </p:nvSpPr>
          <p:spPr>
            <a:xfrm>
              <a:off x="4303948" y="3350834"/>
              <a:ext cx="1486944" cy="3082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a:extLst>
              <a:ext uri="{FF2B5EF4-FFF2-40B4-BE49-F238E27FC236}">
                <a16:creationId xmlns:a16="http://schemas.microsoft.com/office/drawing/2014/main" id="{3875437F-0C2A-FF12-AAB7-5A54928D7286}"/>
              </a:ext>
            </a:extLst>
          </p:cNvPr>
          <p:cNvPicPr>
            <a:picLocks noChangeAspect="1"/>
          </p:cNvPicPr>
          <p:nvPr/>
        </p:nvPicPr>
        <p:blipFill>
          <a:blip r:embed="rId4"/>
          <a:srcRect t="3444" r="6214" b="3941"/>
          <a:stretch>
            <a:fillRect/>
          </a:stretch>
        </p:blipFill>
        <p:spPr>
          <a:xfrm>
            <a:off x="7207222" y="4631522"/>
            <a:ext cx="4296180" cy="2085436"/>
          </a:xfrm>
          <a:prstGeom prst="rect">
            <a:avLst/>
          </a:prstGeom>
          <a:ln>
            <a:solidFill>
              <a:schemeClr val="tx1"/>
            </a:solidFill>
          </a:ln>
        </p:spPr>
      </p:pic>
      <p:sp>
        <p:nvSpPr>
          <p:cNvPr id="16" name="Rectangle 15">
            <a:extLst>
              <a:ext uri="{FF2B5EF4-FFF2-40B4-BE49-F238E27FC236}">
                <a16:creationId xmlns:a16="http://schemas.microsoft.com/office/drawing/2014/main" id="{72096C59-F481-4435-36D6-695DF57417B5}"/>
              </a:ext>
            </a:extLst>
          </p:cNvPr>
          <p:cNvSpPr/>
          <p:nvPr/>
        </p:nvSpPr>
        <p:spPr>
          <a:xfrm>
            <a:off x="8448182" y="6505354"/>
            <a:ext cx="1036041" cy="2579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91482BA-2554-D050-61FC-FAA775449651}"/>
              </a:ext>
            </a:extLst>
          </p:cNvPr>
          <p:cNvSpPr txBox="1"/>
          <p:nvPr/>
        </p:nvSpPr>
        <p:spPr>
          <a:xfrm>
            <a:off x="6633633" y="2017370"/>
            <a:ext cx="1839543" cy="276999"/>
          </a:xfrm>
          <a:prstGeom prst="rect">
            <a:avLst/>
          </a:prstGeom>
          <a:noFill/>
        </p:spPr>
        <p:txBody>
          <a:bodyPr wrap="none" rtlCol="0">
            <a:spAutoFit/>
          </a:bodyPr>
          <a:lstStyle/>
          <a:p>
            <a:r>
              <a:rPr lang="en-US" sz="1200" dirty="0"/>
              <a:t>Copy Values to clipboard</a:t>
            </a:r>
          </a:p>
        </p:txBody>
      </p:sp>
      <p:sp>
        <p:nvSpPr>
          <p:cNvPr id="19" name="TextBox 18">
            <a:extLst>
              <a:ext uri="{FF2B5EF4-FFF2-40B4-BE49-F238E27FC236}">
                <a16:creationId xmlns:a16="http://schemas.microsoft.com/office/drawing/2014/main" id="{19199936-45EC-443C-7820-12D790704D08}"/>
              </a:ext>
            </a:extLst>
          </p:cNvPr>
          <p:cNvSpPr txBox="1"/>
          <p:nvPr/>
        </p:nvSpPr>
        <p:spPr>
          <a:xfrm>
            <a:off x="7138333" y="4400831"/>
            <a:ext cx="2029338" cy="276999"/>
          </a:xfrm>
          <a:prstGeom prst="rect">
            <a:avLst/>
          </a:prstGeom>
          <a:noFill/>
        </p:spPr>
        <p:txBody>
          <a:bodyPr wrap="none" rtlCol="0">
            <a:spAutoFit/>
          </a:bodyPr>
          <a:lstStyle/>
          <a:p>
            <a:r>
              <a:rPr lang="en-US" sz="1200" dirty="0"/>
              <a:t>Paste values from clipboard</a:t>
            </a:r>
          </a:p>
        </p:txBody>
      </p:sp>
      <p:cxnSp>
        <p:nvCxnSpPr>
          <p:cNvPr id="21" name="Straight Arrow Connector 20">
            <a:extLst>
              <a:ext uri="{FF2B5EF4-FFF2-40B4-BE49-F238E27FC236}">
                <a16:creationId xmlns:a16="http://schemas.microsoft.com/office/drawing/2014/main" id="{65800DE9-C310-819C-991C-C8217857B084}"/>
              </a:ext>
            </a:extLst>
          </p:cNvPr>
          <p:cNvCxnSpPr>
            <a:cxnSpLocks/>
          </p:cNvCxnSpPr>
          <p:nvPr/>
        </p:nvCxnSpPr>
        <p:spPr>
          <a:xfrm>
            <a:off x="5615179" y="3142395"/>
            <a:ext cx="96164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225EA0BA-A76B-37A3-AB52-A44F7DDF0222}"/>
              </a:ext>
            </a:extLst>
          </p:cNvPr>
          <p:cNvCxnSpPr>
            <a:cxnSpLocks/>
          </p:cNvCxnSpPr>
          <p:nvPr/>
        </p:nvCxnSpPr>
        <p:spPr>
          <a:xfrm>
            <a:off x="9200460" y="3934029"/>
            <a:ext cx="0" cy="52173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37FC8F18-4785-FD0A-2A8B-E381BFC7A7B1}"/>
              </a:ext>
            </a:extLst>
          </p:cNvPr>
          <p:cNvSpPr txBox="1"/>
          <p:nvPr/>
        </p:nvSpPr>
        <p:spPr>
          <a:xfrm>
            <a:off x="220970" y="1006937"/>
            <a:ext cx="10902042" cy="646331"/>
          </a:xfrm>
          <a:prstGeom prst="rect">
            <a:avLst/>
          </a:prstGeom>
          <a:noFill/>
        </p:spPr>
        <p:txBody>
          <a:bodyPr wrap="square">
            <a:spAutoFit/>
          </a:bodyPr>
          <a:lstStyle/>
          <a:p>
            <a:r>
              <a:rPr lang="en-US" sz="1200" b="1" dirty="0"/>
              <a:t>2. Click on the source plate and paste in the information about the Nucleoside digestion reaction.</a:t>
            </a:r>
          </a:p>
          <a:p>
            <a:r>
              <a:rPr lang="en-US" sz="1200" b="1" dirty="0"/>
              <a:t>	-</a:t>
            </a:r>
            <a:r>
              <a:rPr lang="en-US" sz="1200" dirty="0"/>
              <a:t> I would just paste the exact sample sheet used for the Nucleoside Digestion Step4, but change the volume to what ever volume (30uL) the 	nucleoside digestion reaction was. </a:t>
            </a:r>
          </a:p>
        </p:txBody>
      </p:sp>
      <p:sp>
        <p:nvSpPr>
          <p:cNvPr id="29" name="TextBox 28">
            <a:extLst>
              <a:ext uri="{FF2B5EF4-FFF2-40B4-BE49-F238E27FC236}">
                <a16:creationId xmlns:a16="http://schemas.microsoft.com/office/drawing/2014/main" id="{50D46CA4-A0E7-49CE-5C07-D101A2F3A71F}"/>
              </a:ext>
            </a:extLst>
          </p:cNvPr>
          <p:cNvSpPr txBox="1"/>
          <p:nvPr/>
        </p:nvSpPr>
        <p:spPr>
          <a:xfrm>
            <a:off x="187344" y="5304908"/>
            <a:ext cx="6389477" cy="738664"/>
          </a:xfrm>
          <a:prstGeom prst="rect">
            <a:avLst/>
          </a:prstGeom>
          <a:noFill/>
        </p:spPr>
        <p:txBody>
          <a:bodyPr wrap="square" rtlCol="0">
            <a:spAutoFit/>
          </a:bodyPr>
          <a:lstStyle/>
          <a:p>
            <a:r>
              <a:rPr lang="en-US" sz="1400" b="1" dirty="0"/>
              <a:t>Notes:</a:t>
            </a:r>
          </a:p>
          <a:p>
            <a:pPr marL="342900" indent="-342900">
              <a:buFont typeface="Arial" panose="020B0604020202020204" pitchFamily="34" charset="0"/>
              <a:buChar char="•"/>
            </a:pPr>
            <a:r>
              <a:rPr lang="en-US" sz="1400" dirty="0"/>
              <a:t>The only values that are critical are the position, solution name, and the volume. Concentration really does not matter.</a:t>
            </a:r>
          </a:p>
        </p:txBody>
      </p:sp>
    </p:spTree>
    <p:extLst>
      <p:ext uri="{BB962C8B-B14F-4D97-AF65-F5344CB8AC3E}">
        <p14:creationId xmlns:p14="http://schemas.microsoft.com/office/powerpoint/2010/main" val="1567028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70D55-0986-D073-6B68-5FAC171139F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6ECC1F8-0A29-8309-2A2D-DCB34CD40074}"/>
              </a:ext>
            </a:extLst>
          </p:cNvPr>
          <p:cNvSpPr>
            <a:spLocks noGrp="1"/>
          </p:cNvSpPr>
          <p:nvPr>
            <p:ph type="title"/>
          </p:nvPr>
        </p:nvSpPr>
        <p:spPr>
          <a:xfrm>
            <a:off x="0" y="-283145"/>
            <a:ext cx="12129247" cy="1325563"/>
          </a:xfrm>
        </p:spPr>
        <p:txBody>
          <a:bodyPr>
            <a:normAutofit/>
          </a:bodyPr>
          <a:lstStyle/>
          <a:p>
            <a:r>
              <a:rPr lang="en-US" sz="2800" u="sng" dirty="0"/>
              <a:t>Step3: Edit Protocol Step 1 “Pipetting” with 96well source wells and destination HPLC vials to be transferred</a:t>
            </a:r>
            <a:endParaRPr lang="en-US" sz="2800" dirty="0"/>
          </a:p>
        </p:txBody>
      </p:sp>
      <p:pic>
        <p:nvPicPr>
          <p:cNvPr id="3" name="Picture 2">
            <a:extLst>
              <a:ext uri="{FF2B5EF4-FFF2-40B4-BE49-F238E27FC236}">
                <a16:creationId xmlns:a16="http://schemas.microsoft.com/office/drawing/2014/main" id="{DB1780E9-055F-3A24-A7AA-5338A74A6A7A}"/>
              </a:ext>
            </a:extLst>
          </p:cNvPr>
          <p:cNvPicPr>
            <a:picLocks noChangeAspect="1"/>
          </p:cNvPicPr>
          <p:nvPr/>
        </p:nvPicPr>
        <p:blipFill>
          <a:blip r:embed="rId2"/>
          <a:stretch>
            <a:fillRect/>
          </a:stretch>
        </p:blipFill>
        <p:spPr>
          <a:xfrm>
            <a:off x="4298173" y="1793852"/>
            <a:ext cx="3148259" cy="2574165"/>
          </a:xfrm>
          <a:prstGeom prst="rect">
            <a:avLst/>
          </a:prstGeom>
          <a:ln>
            <a:solidFill>
              <a:schemeClr val="tx1"/>
            </a:solidFill>
          </a:ln>
        </p:spPr>
      </p:pic>
      <p:pic>
        <p:nvPicPr>
          <p:cNvPr id="6" name="Picture 5">
            <a:extLst>
              <a:ext uri="{FF2B5EF4-FFF2-40B4-BE49-F238E27FC236}">
                <a16:creationId xmlns:a16="http://schemas.microsoft.com/office/drawing/2014/main" id="{B1C29459-7D76-19AF-AE83-244B3DC59A3C}"/>
              </a:ext>
            </a:extLst>
          </p:cNvPr>
          <p:cNvPicPr>
            <a:picLocks noChangeAspect="1"/>
          </p:cNvPicPr>
          <p:nvPr/>
        </p:nvPicPr>
        <p:blipFill>
          <a:blip r:embed="rId3"/>
          <a:stretch>
            <a:fillRect/>
          </a:stretch>
        </p:blipFill>
        <p:spPr>
          <a:xfrm>
            <a:off x="114970" y="5074559"/>
            <a:ext cx="3820816" cy="1704906"/>
          </a:xfrm>
          <a:prstGeom prst="rect">
            <a:avLst/>
          </a:prstGeom>
          <a:ln>
            <a:solidFill>
              <a:schemeClr val="tx1"/>
            </a:solidFill>
          </a:ln>
        </p:spPr>
      </p:pic>
      <p:pic>
        <p:nvPicPr>
          <p:cNvPr id="7" name="Picture 6">
            <a:extLst>
              <a:ext uri="{FF2B5EF4-FFF2-40B4-BE49-F238E27FC236}">
                <a16:creationId xmlns:a16="http://schemas.microsoft.com/office/drawing/2014/main" id="{240B664C-E622-F3CD-E511-DD719E685F65}"/>
              </a:ext>
            </a:extLst>
          </p:cNvPr>
          <p:cNvPicPr>
            <a:picLocks noChangeAspect="1"/>
          </p:cNvPicPr>
          <p:nvPr/>
        </p:nvPicPr>
        <p:blipFill>
          <a:blip r:embed="rId4"/>
          <a:stretch>
            <a:fillRect/>
          </a:stretch>
        </p:blipFill>
        <p:spPr>
          <a:xfrm>
            <a:off x="4116979" y="5193076"/>
            <a:ext cx="4653410" cy="1586389"/>
          </a:xfrm>
          <a:prstGeom prst="rect">
            <a:avLst/>
          </a:prstGeom>
          <a:ln>
            <a:solidFill>
              <a:schemeClr val="tx1"/>
            </a:solidFill>
          </a:ln>
        </p:spPr>
      </p:pic>
      <p:sp>
        <p:nvSpPr>
          <p:cNvPr id="8" name="TextBox 7">
            <a:extLst>
              <a:ext uri="{FF2B5EF4-FFF2-40B4-BE49-F238E27FC236}">
                <a16:creationId xmlns:a16="http://schemas.microsoft.com/office/drawing/2014/main" id="{598A119E-D922-8F3C-D0C4-DA44549B66AA}"/>
              </a:ext>
            </a:extLst>
          </p:cNvPr>
          <p:cNvSpPr txBox="1"/>
          <p:nvPr/>
        </p:nvSpPr>
        <p:spPr>
          <a:xfrm>
            <a:off x="62753" y="799034"/>
            <a:ext cx="10902042" cy="646331"/>
          </a:xfrm>
          <a:prstGeom prst="rect">
            <a:avLst/>
          </a:prstGeom>
          <a:noFill/>
        </p:spPr>
        <p:txBody>
          <a:bodyPr wrap="square">
            <a:spAutoFit/>
          </a:bodyPr>
          <a:lstStyle/>
          <a:p>
            <a:r>
              <a:rPr lang="en-US" sz="1200" b="1" dirty="0"/>
              <a:t>3. Edit Protocol Step1 and select the source wells, destination HPLC vials, and the volume to be transferred.</a:t>
            </a:r>
          </a:p>
          <a:p>
            <a:r>
              <a:rPr lang="en-US" sz="1200" b="1" dirty="0"/>
              <a:t>	</a:t>
            </a:r>
            <a:r>
              <a:rPr lang="en-US" sz="1200" dirty="0"/>
              <a:t>- Selecting source wells is the same as above, but selecting the HPLC vials is a little different. </a:t>
            </a:r>
          </a:p>
          <a:p>
            <a:r>
              <a:rPr lang="en-US" sz="1200" dirty="0"/>
              <a:t>	-  in the editing page, double check the following offsets are properly configured.    </a:t>
            </a:r>
          </a:p>
        </p:txBody>
      </p:sp>
      <p:sp>
        <p:nvSpPr>
          <p:cNvPr id="9" name="TextBox 8">
            <a:extLst>
              <a:ext uri="{FF2B5EF4-FFF2-40B4-BE49-F238E27FC236}">
                <a16:creationId xmlns:a16="http://schemas.microsoft.com/office/drawing/2014/main" id="{21927344-80BC-B46C-653A-0ED6F689BE53}"/>
              </a:ext>
            </a:extLst>
          </p:cNvPr>
          <p:cNvSpPr txBox="1"/>
          <p:nvPr/>
        </p:nvSpPr>
        <p:spPr>
          <a:xfrm>
            <a:off x="7808819" y="1530106"/>
            <a:ext cx="4224040" cy="2893100"/>
          </a:xfrm>
          <a:prstGeom prst="rect">
            <a:avLst/>
          </a:prstGeom>
          <a:noFill/>
        </p:spPr>
        <p:txBody>
          <a:bodyPr wrap="square" rtlCol="0">
            <a:spAutoFit/>
          </a:bodyPr>
          <a:lstStyle/>
          <a:p>
            <a:r>
              <a:rPr lang="en-US" sz="1400" b="1" dirty="0"/>
              <a:t>Notes:</a:t>
            </a:r>
          </a:p>
          <a:p>
            <a:pPr marL="342900" indent="-342900">
              <a:buFont typeface="Arial" panose="020B0604020202020204" pitchFamily="34" charset="0"/>
              <a:buChar char="•"/>
            </a:pPr>
            <a:r>
              <a:rPr lang="en-US" sz="1400" dirty="0"/>
              <a:t>When selecting destination HPLC vials, they are added row by row instead of by columns. </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400" dirty="0"/>
              <a:t>For example:</a:t>
            </a:r>
          </a:p>
          <a:p>
            <a:pPr marL="800100" lvl="1" indent="-342900">
              <a:buFont typeface="Arial" panose="020B0604020202020204" pitchFamily="34" charset="0"/>
              <a:buChar char="•"/>
            </a:pPr>
            <a:r>
              <a:rPr lang="en-US" sz="1400" dirty="0"/>
              <a:t>Samples in 96well: A1,A2, A3, B1,B2, C1</a:t>
            </a:r>
          </a:p>
          <a:p>
            <a:pPr marL="800100" lvl="1" indent="-342900">
              <a:buFont typeface="Arial" panose="020B0604020202020204" pitchFamily="34" charset="0"/>
              <a:buChar char="•"/>
            </a:pPr>
            <a:r>
              <a:rPr lang="en-US" sz="1400" dirty="0"/>
              <a:t>HPLC vial destinations would be.</a:t>
            </a:r>
          </a:p>
          <a:p>
            <a:pPr marL="1257300" lvl="2" indent="-342900">
              <a:buFont typeface="Arial" panose="020B0604020202020204" pitchFamily="34" charset="0"/>
              <a:buChar char="•"/>
            </a:pPr>
            <a:r>
              <a:rPr lang="en-US" sz="1400" dirty="0"/>
              <a:t>A1 -&gt; 96well A1</a:t>
            </a:r>
          </a:p>
          <a:p>
            <a:pPr marL="1257300" lvl="2" indent="-342900">
              <a:buFont typeface="Arial" panose="020B0604020202020204" pitchFamily="34" charset="0"/>
              <a:buChar char="•"/>
            </a:pPr>
            <a:r>
              <a:rPr lang="en-US" sz="1400" dirty="0"/>
              <a:t>A2 -&gt; 96 well B1</a:t>
            </a:r>
          </a:p>
          <a:p>
            <a:pPr marL="1257300" lvl="2" indent="-342900">
              <a:buFont typeface="Arial" panose="020B0604020202020204" pitchFamily="34" charset="0"/>
              <a:buChar char="•"/>
            </a:pPr>
            <a:r>
              <a:rPr lang="en-US" sz="1400" dirty="0"/>
              <a:t>A3 -&gt; 96 well C1</a:t>
            </a:r>
          </a:p>
          <a:p>
            <a:pPr marL="1257300" lvl="2" indent="-342900">
              <a:buFont typeface="Arial" panose="020B0604020202020204" pitchFamily="34" charset="0"/>
              <a:buChar char="•"/>
            </a:pPr>
            <a:r>
              <a:rPr lang="en-US" sz="1400" dirty="0"/>
              <a:t>A4 -&gt; 96 well A2</a:t>
            </a:r>
          </a:p>
          <a:p>
            <a:pPr marL="1257300" lvl="2" indent="-342900">
              <a:buFont typeface="Arial" panose="020B0604020202020204" pitchFamily="34" charset="0"/>
              <a:buChar char="•"/>
            </a:pPr>
            <a:r>
              <a:rPr lang="en-US" sz="1400" dirty="0"/>
              <a:t>A5 -&gt; 96 well B2</a:t>
            </a:r>
          </a:p>
          <a:p>
            <a:pPr marL="1257300" lvl="2" indent="-342900">
              <a:buFont typeface="Arial" panose="020B0604020202020204" pitchFamily="34" charset="0"/>
              <a:buChar char="•"/>
            </a:pPr>
            <a:r>
              <a:rPr lang="en-US" sz="1400" dirty="0"/>
              <a:t>A6 -&gt; 96 well C1</a:t>
            </a:r>
          </a:p>
        </p:txBody>
      </p:sp>
      <p:grpSp>
        <p:nvGrpSpPr>
          <p:cNvPr id="15" name="Group 14">
            <a:extLst>
              <a:ext uri="{FF2B5EF4-FFF2-40B4-BE49-F238E27FC236}">
                <a16:creationId xmlns:a16="http://schemas.microsoft.com/office/drawing/2014/main" id="{6FB91DF7-8847-8D85-AED4-D61129AC1844}"/>
              </a:ext>
            </a:extLst>
          </p:cNvPr>
          <p:cNvGrpSpPr/>
          <p:nvPr/>
        </p:nvGrpSpPr>
        <p:grpSpPr>
          <a:xfrm>
            <a:off x="245299" y="1793852"/>
            <a:ext cx="3690487" cy="2574166"/>
            <a:chOff x="271947" y="1750187"/>
            <a:chExt cx="3690487" cy="2574166"/>
          </a:xfrm>
        </p:grpSpPr>
        <p:pic>
          <p:nvPicPr>
            <p:cNvPr id="2" name="Picture 1">
              <a:extLst>
                <a:ext uri="{FF2B5EF4-FFF2-40B4-BE49-F238E27FC236}">
                  <a16:creationId xmlns:a16="http://schemas.microsoft.com/office/drawing/2014/main" id="{168EF8F2-1E57-8A62-1824-92752F698F58}"/>
                </a:ext>
              </a:extLst>
            </p:cNvPr>
            <p:cNvPicPr>
              <a:picLocks noChangeAspect="1"/>
            </p:cNvPicPr>
            <p:nvPr/>
          </p:nvPicPr>
          <p:blipFill>
            <a:blip r:embed="rId5"/>
            <a:srcRect r="40023" b="3520"/>
            <a:stretch>
              <a:fillRect/>
            </a:stretch>
          </p:blipFill>
          <p:spPr>
            <a:xfrm>
              <a:off x="271948" y="1750187"/>
              <a:ext cx="3690486" cy="2574166"/>
            </a:xfrm>
            <a:prstGeom prst="rect">
              <a:avLst/>
            </a:prstGeom>
            <a:ln>
              <a:solidFill>
                <a:schemeClr val="tx1"/>
              </a:solidFill>
            </a:ln>
          </p:spPr>
        </p:pic>
        <p:sp>
          <p:nvSpPr>
            <p:cNvPr id="10" name="Rectangle 9">
              <a:extLst>
                <a:ext uri="{FF2B5EF4-FFF2-40B4-BE49-F238E27FC236}">
                  <a16:creationId xmlns:a16="http://schemas.microsoft.com/office/drawing/2014/main" id="{9B2EE49F-11D1-1AF1-F4C8-BB73A47708E1}"/>
                </a:ext>
              </a:extLst>
            </p:cNvPr>
            <p:cNvSpPr/>
            <p:nvPr/>
          </p:nvSpPr>
          <p:spPr>
            <a:xfrm>
              <a:off x="271947" y="3058262"/>
              <a:ext cx="1618497" cy="9589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 name="Straight Arrow Connector 11">
            <a:extLst>
              <a:ext uri="{FF2B5EF4-FFF2-40B4-BE49-F238E27FC236}">
                <a16:creationId xmlns:a16="http://schemas.microsoft.com/office/drawing/2014/main" id="{586D9132-B27A-9169-B32D-8486FA1D907A}"/>
              </a:ext>
            </a:extLst>
          </p:cNvPr>
          <p:cNvCxnSpPr>
            <a:stCxn id="2" idx="3"/>
            <a:endCxn id="3" idx="1"/>
          </p:cNvCxnSpPr>
          <p:nvPr/>
        </p:nvCxnSpPr>
        <p:spPr>
          <a:xfrm>
            <a:off x="3935786" y="3080935"/>
            <a:ext cx="36238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1464D60C-4ACD-97B6-EEBB-A11E878BB6DA}"/>
              </a:ext>
            </a:extLst>
          </p:cNvPr>
          <p:cNvSpPr txBox="1"/>
          <p:nvPr/>
        </p:nvSpPr>
        <p:spPr>
          <a:xfrm>
            <a:off x="22458" y="4690201"/>
            <a:ext cx="4273542" cy="369332"/>
          </a:xfrm>
          <a:prstGeom prst="rect">
            <a:avLst/>
          </a:prstGeom>
          <a:noFill/>
        </p:spPr>
        <p:txBody>
          <a:bodyPr wrap="none" rtlCol="0">
            <a:spAutoFit/>
          </a:bodyPr>
          <a:lstStyle/>
          <a:p>
            <a:r>
              <a:rPr lang="en-US" b="1" dirty="0"/>
              <a:t>IMPORTANT OFFSET CONFIGURATIONS</a:t>
            </a:r>
          </a:p>
        </p:txBody>
      </p:sp>
      <p:sp>
        <p:nvSpPr>
          <p:cNvPr id="19" name="TextBox 18">
            <a:extLst>
              <a:ext uri="{FF2B5EF4-FFF2-40B4-BE49-F238E27FC236}">
                <a16:creationId xmlns:a16="http://schemas.microsoft.com/office/drawing/2014/main" id="{9D2F4B4E-249E-3260-93AB-D25C6B7CFD6D}"/>
              </a:ext>
            </a:extLst>
          </p:cNvPr>
          <p:cNvSpPr txBox="1"/>
          <p:nvPr/>
        </p:nvSpPr>
        <p:spPr>
          <a:xfrm>
            <a:off x="8951582" y="5094982"/>
            <a:ext cx="3125448" cy="1384995"/>
          </a:xfrm>
          <a:prstGeom prst="rect">
            <a:avLst/>
          </a:prstGeom>
          <a:noFill/>
        </p:spPr>
        <p:txBody>
          <a:bodyPr wrap="square" rtlCol="0">
            <a:spAutoFit/>
          </a:bodyPr>
          <a:lstStyle/>
          <a:p>
            <a:r>
              <a:rPr lang="en-US" sz="1400" b="1" dirty="0"/>
              <a:t>Notes:</a:t>
            </a:r>
          </a:p>
          <a:p>
            <a:pPr marL="285750" indent="-285750">
              <a:buFont typeface="Arial" panose="020B0604020202020204" pitchFamily="34" charset="0"/>
              <a:buChar char="•"/>
            </a:pPr>
            <a:r>
              <a:rPr lang="en-US" sz="1400" b="1" dirty="0"/>
              <a:t>If offsets are not properly configured, the pipette tip will get stuck in the HPLC vial and Andrew will eject the pipette tip+ vial into the waste container</a:t>
            </a:r>
          </a:p>
        </p:txBody>
      </p:sp>
    </p:spTree>
    <p:extLst>
      <p:ext uri="{BB962C8B-B14F-4D97-AF65-F5344CB8AC3E}">
        <p14:creationId xmlns:p14="http://schemas.microsoft.com/office/powerpoint/2010/main" val="1508344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B2195-68F5-28DE-E31D-5565345F56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1F784-7614-DFA6-692F-0471B602D257}"/>
              </a:ext>
            </a:extLst>
          </p:cNvPr>
          <p:cNvSpPr>
            <a:spLocks noGrp="1"/>
          </p:cNvSpPr>
          <p:nvPr>
            <p:ph type="title"/>
          </p:nvPr>
        </p:nvSpPr>
        <p:spPr>
          <a:xfrm>
            <a:off x="0" y="-384269"/>
            <a:ext cx="12129247" cy="1325563"/>
          </a:xfrm>
        </p:spPr>
        <p:txBody>
          <a:bodyPr>
            <a:normAutofit/>
          </a:bodyPr>
          <a:lstStyle/>
          <a:p>
            <a:r>
              <a:rPr lang="en-US" sz="2800" u="sng" dirty="0"/>
              <a:t>Step4: Double Check everything is correct and run the protocol.</a:t>
            </a:r>
          </a:p>
        </p:txBody>
      </p:sp>
      <p:sp>
        <p:nvSpPr>
          <p:cNvPr id="11" name="TextBox 10">
            <a:extLst>
              <a:ext uri="{FF2B5EF4-FFF2-40B4-BE49-F238E27FC236}">
                <a16:creationId xmlns:a16="http://schemas.microsoft.com/office/drawing/2014/main" id="{18BFCCD8-8DA2-B833-0B4D-E0EC1E1781AC}"/>
              </a:ext>
            </a:extLst>
          </p:cNvPr>
          <p:cNvSpPr txBox="1"/>
          <p:nvPr/>
        </p:nvSpPr>
        <p:spPr>
          <a:xfrm>
            <a:off x="62753" y="525795"/>
            <a:ext cx="10902042" cy="830997"/>
          </a:xfrm>
          <a:prstGeom prst="rect">
            <a:avLst/>
          </a:prstGeom>
          <a:noFill/>
        </p:spPr>
        <p:txBody>
          <a:bodyPr wrap="square">
            <a:spAutoFit/>
          </a:bodyPr>
          <a:lstStyle/>
          <a:p>
            <a:r>
              <a:rPr lang="en-US" sz="1200" b="1" dirty="0"/>
              <a:t>4. Click on the protocol step2 “END” to get a snapshot of what the final workspace will look like. You can click on the source plate and the target destination plate to see what is in each plate at the end of the protocol. </a:t>
            </a:r>
          </a:p>
          <a:p>
            <a:r>
              <a:rPr lang="en-US" sz="1200" b="1" dirty="0"/>
              <a:t>	</a:t>
            </a:r>
            <a:r>
              <a:rPr lang="en-US" sz="1200" dirty="0"/>
              <a:t>- There is a non-zero chance that pipette tip might get stuck in the HPLC vial, but I had no errors in 2x runs once I changed all of the offsets.</a:t>
            </a:r>
          </a:p>
          <a:p>
            <a:r>
              <a:rPr lang="en-US" sz="1200" dirty="0"/>
              <a:t>	- Label all of the HPLC vials before hand so you can recover them from the waste if this does happen and not loose any sample. </a:t>
            </a:r>
          </a:p>
        </p:txBody>
      </p:sp>
      <p:pic>
        <p:nvPicPr>
          <p:cNvPr id="3" name="Picture 2" descr="Andrew Alliance - Pipetting tools and software for the scientific lab">
            <a:extLst>
              <a:ext uri="{FF2B5EF4-FFF2-40B4-BE49-F238E27FC236}">
                <a16:creationId xmlns:a16="http://schemas.microsoft.com/office/drawing/2014/main" id="{8DE674FE-3AE2-B183-3941-C7A09D4D210F}"/>
              </a:ext>
            </a:extLst>
          </p:cNvPr>
          <p:cNvPicPr>
            <a:picLocks noChangeAspect="1"/>
          </p:cNvPicPr>
          <p:nvPr/>
        </p:nvPicPr>
        <p:blipFill>
          <a:blip r:embed="rId3"/>
          <a:stretch>
            <a:fillRect/>
          </a:stretch>
        </p:blipFill>
        <p:spPr>
          <a:xfrm>
            <a:off x="3032034" y="1698479"/>
            <a:ext cx="5432461" cy="5432461"/>
          </a:xfrm>
          <a:prstGeom prst="rect">
            <a:avLst/>
          </a:prstGeom>
        </p:spPr>
      </p:pic>
    </p:spTree>
    <p:extLst>
      <p:ext uri="{BB962C8B-B14F-4D97-AF65-F5344CB8AC3E}">
        <p14:creationId xmlns:p14="http://schemas.microsoft.com/office/powerpoint/2010/main" val="3869913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8BFB9-9D1A-FBBB-331E-1B169BCA5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181F2-6411-1D5A-EE8D-50C4F510CB64}"/>
              </a:ext>
            </a:extLst>
          </p:cNvPr>
          <p:cNvSpPr>
            <a:spLocks noGrp="1"/>
          </p:cNvSpPr>
          <p:nvPr>
            <p:ph type="title"/>
          </p:nvPr>
        </p:nvSpPr>
        <p:spPr>
          <a:xfrm>
            <a:off x="0" y="-360549"/>
            <a:ext cx="12129247" cy="1325563"/>
          </a:xfrm>
        </p:spPr>
        <p:txBody>
          <a:bodyPr>
            <a:normAutofit/>
          </a:bodyPr>
          <a:lstStyle/>
          <a:p>
            <a:r>
              <a:rPr lang="en-US" sz="2800" u="sng" dirty="0"/>
              <a:t>Example Results: Nucleoside digestion of Deamination Reactions. </a:t>
            </a:r>
            <a:endParaRPr lang="en-US" sz="2800" dirty="0"/>
          </a:p>
        </p:txBody>
      </p:sp>
      <p:graphicFrame>
        <p:nvGraphicFramePr>
          <p:cNvPr id="6" name="Table 5">
            <a:extLst>
              <a:ext uri="{FF2B5EF4-FFF2-40B4-BE49-F238E27FC236}">
                <a16:creationId xmlns:a16="http://schemas.microsoft.com/office/drawing/2014/main" id="{7ADD18A3-BF36-31A0-5DD5-3BC3C1C4A2A9}"/>
              </a:ext>
            </a:extLst>
          </p:cNvPr>
          <p:cNvGraphicFramePr>
            <a:graphicFrameLocks noGrp="1"/>
          </p:cNvGraphicFramePr>
          <p:nvPr>
            <p:extLst>
              <p:ext uri="{D42A27DB-BD31-4B8C-83A1-F6EECF244321}">
                <p14:modId xmlns:p14="http://schemas.microsoft.com/office/powerpoint/2010/main" val="1333586228"/>
              </p:ext>
            </p:extLst>
          </p:nvPr>
        </p:nvGraphicFramePr>
        <p:xfrm>
          <a:off x="2481245" y="3550192"/>
          <a:ext cx="6786045" cy="3195468"/>
        </p:xfrm>
        <a:graphic>
          <a:graphicData uri="http://schemas.openxmlformats.org/drawingml/2006/table">
            <a:tbl>
              <a:tblPr>
                <a:tableStyleId>{2D5ABB26-0587-4C30-8999-92F81FD0307C}</a:tableStyleId>
              </a:tblPr>
              <a:tblGrid>
                <a:gridCol w="713857">
                  <a:extLst>
                    <a:ext uri="{9D8B030D-6E8A-4147-A177-3AD203B41FA5}">
                      <a16:colId xmlns:a16="http://schemas.microsoft.com/office/drawing/2014/main" val="1890286482"/>
                    </a:ext>
                  </a:extLst>
                </a:gridCol>
                <a:gridCol w="1160394">
                  <a:extLst>
                    <a:ext uri="{9D8B030D-6E8A-4147-A177-3AD203B41FA5}">
                      <a16:colId xmlns:a16="http://schemas.microsoft.com/office/drawing/2014/main" val="622760366"/>
                    </a:ext>
                  </a:extLst>
                </a:gridCol>
                <a:gridCol w="762996">
                  <a:extLst>
                    <a:ext uri="{9D8B030D-6E8A-4147-A177-3AD203B41FA5}">
                      <a16:colId xmlns:a16="http://schemas.microsoft.com/office/drawing/2014/main" val="1969880428"/>
                    </a:ext>
                  </a:extLst>
                </a:gridCol>
                <a:gridCol w="349708">
                  <a:extLst>
                    <a:ext uri="{9D8B030D-6E8A-4147-A177-3AD203B41FA5}">
                      <a16:colId xmlns:a16="http://schemas.microsoft.com/office/drawing/2014/main" val="1383837384"/>
                    </a:ext>
                  </a:extLst>
                </a:gridCol>
                <a:gridCol w="762997">
                  <a:extLst>
                    <a:ext uri="{9D8B030D-6E8A-4147-A177-3AD203B41FA5}">
                      <a16:colId xmlns:a16="http://schemas.microsoft.com/office/drawing/2014/main" val="2794937579"/>
                    </a:ext>
                  </a:extLst>
                </a:gridCol>
                <a:gridCol w="842477">
                  <a:extLst>
                    <a:ext uri="{9D8B030D-6E8A-4147-A177-3AD203B41FA5}">
                      <a16:colId xmlns:a16="http://schemas.microsoft.com/office/drawing/2014/main" val="3728109014"/>
                    </a:ext>
                  </a:extLst>
                </a:gridCol>
                <a:gridCol w="858371">
                  <a:extLst>
                    <a:ext uri="{9D8B030D-6E8A-4147-A177-3AD203B41FA5}">
                      <a16:colId xmlns:a16="http://schemas.microsoft.com/office/drawing/2014/main" val="2762240781"/>
                    </a:ext>
                  </a:extLst>
                </a:gridCol>
                <a:gridCol w="588143">
                  <a:extLst>
                    <a:ext uri="{9D8B030D-6E8A-4147-A177-3AD203B41FA5}">
                      <a16:colId xmlns:a16="http://schemas.microsoft.com/office/drawing/2014/main" val="3415959854"/>
                    </a:ext>
                  </a:extLst>
                </a:gridCol>
                <a:gridCol w="747102">
                  <a:extLst>
                    <a:ext uri="{9D8B030D-6E8A-4147-A177-3AD203B41FA5}">
                      <a16:colId xmlns:a16="http://schemas.microsoft.com/office/drawing/2014/main" val="2526507224"/>
                    </a:ext>
                  </a:extLst>
                </a:gridCol>
              </a:tblGrid>
              <a:tr h="308604">
                <a:tc>
                  <a:txBody>
                    <a:bodyPr/>
                    <a:lstStyle/>
                    <a:p>
                      <a:pPr algn="ctr" fontAlgn="ctr">
                        <a:buNone/>
                      </a:pPr>
                      <a:r>
                        <a:rPr lang="en-US" sz="800" b="1" dirty="0">
                          <a:effectLst/>
                        </a:rPr>
                        <a:t>Enzyme</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sz="800" b="1" dirty="0">
                          <a:effectLst/>
                        </a:rPr>
                        <a:t>Condition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sz="800" b="1" dirty="0">
                          <a:effectLst/>
                        </a:rPr>
                        <a:t>Metric</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sz="800" b="1" dirty="0">
                          <a:effectLst/>
                        </a:rPr>
                        <a:t>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sz="800" b="1" dirty="0">
                          <a:effectLst/>
                        </a:rPr>
                        <a:t>R1 (%)</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sz="800" b="1" dirty="0">
                          <a:effectLst/>
                        </a:rPr>
                        <a:t>R2 (%)</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sz="800" b="1" dirty="0">
                          <a:effectLst/>
                        </a:rPr>
                        <a:t>Mean (%)</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sz="800" b="1" dirty="0">
                          <a:effectLst/>
                        </a:rPr>
                        <a:t>SD (%)</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en-US" sz="800" b="1" dirty="0">
                          <a:effectLst/>
                        </a:rPr>
                        <a:t>CV (%)</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21476883"/>
                  </a:ext>
                </a:extLst>
              </a:tr>
              <a:tr h="308604">
                <a:tc>
                  <a:txBody>
                    <a:bodyPr/>
                    <a:lstStyle/>
                    <a:p>
                      <a:pPr algn="ctr" fontAlgn="ctr">
                        <a:buNone/>
                      </a:pPr>
                      <a:r>
                        <a:rPr lang="en-US" sz="800">
                          <a:effectLst/>
                        </a:rPr>
                        <a:t>HP</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NoIncubation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rI/(rI+rA)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0.410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0.345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0.378</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0.046</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12.17</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030450"/>
                  </a:ext>
                </a:extLst>
              </a:tr>
              <a:tr h="172540">
                <a:tc>
                  <a:txBody>
                    <a:bodyPr/>
                    <a:lstStyle/>
                    <a:p>
                      <a:pPr algn="ctr" fontAlgn="ctr">
                        <a:buNone/>
                      </a:pPr>
                      <a:r>
                        <a:rPr lang="en-US" sz="800">
                          <a:effectLst/>
                        </a:rPr>
                        <a:t>HP</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0min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rI/(rI+rA)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3.715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3.655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3.685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0.042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1.15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3108945"/>
                  </a:ext>
                </a:extLst>
              </a:tr>
              <a:tr h="172540">
                <a:tc>
                  <a:txBody>
                    <a:bodyPr/>
                    <a:lstStyle/>
                    <a:p>
                      <a:pPr algn="ctr" fontAlgn="ctr">
                        <a:buNone/>
                      </a:pPr>
                      <a:r>
                        <a:rPr lang="en-US" sz="800">
                          <a:effectLst/>
                        </a:rPr>
                        <a:t>HP</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5min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rI/(rI+rA)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1.015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1.050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1.033</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0.025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2.39</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8623004"/>
                  </a:ext>
                </a:extLst>
              </a:tr>
              <a:tr h="172540">
                <a:tc>
                  <a:txBody>
                    <a:bodyPr/>
                    <a:lstStyle/>
                    <a:p>
                      <a:pPr algn="ctr" fontAlgn="ctr">
                        <a:buNone/>
                      </a:pPr>
                      <a:r>
                        <a:rPr lang="en-US" sz="800">
                          <a:effectLst/>
                        </a:rPr>
                        <a:t>HP</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10min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rI/(rI+rA)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1.005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1.045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1.025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0.028</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2.75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4902506"/>
                  </a:ext>
                </a:extLst>
              </a:tr>
              <a:tr h="308604">
                <a:tc>
                  <a:txBody>
                    <a:bodyPr/>
                    <a:lstStyle/>
                    <a:p>
                      <a:pPr algn="ctr" fontAlgn="ctr">
                        <a:buNone/>
                      </a:pPr>
                      <a:r>
                        <a:rPr lang="en-US" sz="800">
                          <a:effectLst/>
                        </a:rPr>
                        <a:t>TA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err="1">
                          <a:effectLst/>
                        </a:rPr>
                        <a:t>NoIncubation</a:t>
                      </a:r>
                      <a:endParaRPr lang="en-US" sz="800" dirty="0">
                        <a:effectLst/>
                      </a:endParaRP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rI/(rI+rA)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0.110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0.110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0.110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0.000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0.00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0253482"/>
                  </a:ext>
                </a:extLst>
              </a:tr>
              <a:tr h="172540">
                <a:tc>
                  <a:txBody>
                    <a:bodyPr/>
                    <a:lstStyle/>
                    <a:p>
                      <a:pPr algn="ctr" fontAlgn="ctr">
                        <a:buNone/>
                      </a:pPr>
                      <a:r>
                        <a:rPr lang="en-US" sz="800" dirty="0">
                          <a:effectLst/>
                        </a:rPr>
                        <a:t>TA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0min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err="1">
                          <a:effectLst/>
                        </a:rPr>
                        <a:t>rI</a:t>
                      </a:r>
                      <a:r>
                        <a:rPr lang="en-US" sz="800" dirty="0">
                          <a:effectLst/>
                        </a:rPr>
                        <a:t>/(</a:t>
                      </a:r>
                      <a:r>
                        <a:rPr lang="en-US" sz="800" dirty="0" err="1">
                          <a:effectLst/>
                        </a:rPr>
                        <a:t>rI+rA</a:t>
                      </a:r>
                      <a:r>
                        <a:rPr lang="en-US" sz="800" dirty="0">
                          <a:effectLst/>
                        </a:rPr>
                        <a:t>)</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24.520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25.290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24.905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0.544</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2.18</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4774836"/>
                  </a:ext>
                </a:extLst>
              </a:tr>
              <a:tr h="172540">
                <a:tc>
                  <a:txBody>
                    <a:bodyPr/>
                    <a:lstStyle/>
                    <a:p>
                      <a:pPr algn="ctr" fontAlgn="ctr">
                        <a:buNone/>
                      </a:pPr>
                      <a:r>
                        <a:rPr lang="en-US" sz="800" dirty="0">
                          <a:effectLst/>
                        </a:rPr>
                        <a:t>TA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5min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rI/(rI+rA)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0.240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0.200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0.220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0.028</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12.85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1485704"/>
                  </a:ext>
                </a:extLst>
              </a:tr>
              <a:tr h="172540">
                <a:tc>
                  <a:txBody>
                    <a:bodyPr/>
                    <a:lstStyle/>
                    <a:p>
                      <a:pPr algn="ctr" fontAlgn="ctr">
                        <a:buNone/>
                      </a:pPr>
                      <a:r>
                        <a:rPr lang="en-US" sz="800">
                          <a:effectLst/>
                        </a:rPr>
                        <a:t>TA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10min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rI/(rI+rA)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0.290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0.285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0.288</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0.004</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1.23</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3076875"/>
                  </a:ext>
                </a:extLst>
              </a:tr>
              <a:tr h="308604">
                <a:tc>
                  <a:txBody>
                    <a:bodyPr/>
                    <a:lstStyle/>
                    <a:p>
                      <a:pPr algn="ctr" fontAlgn="ctr">
                        <a:buNone/>
                      </a:pPr>
                      <a:r>
                        <a:rPr lang="en-US" sz="800">
                          <a:effectLst/>
                        </a:rPr>
                        <a:t>HcDa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err="1">
                          <a:effectLst/>
                        </a:rPr>
                        <a:t>NoIncubation</a:t>
                      </a:r>
                      <a:endParaRPr lang="en-US" sz="800" dirty="0">
                        <a:effectLst/>
                      </a:endParaRP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err="1">
                          <a:effectLst/>
                        </a:rPr>
                        <a:t>rU</a:t>
                      </a:r>
                      <a:r>
                        <a:rPr lang="en-US" sz="800" dirty="0">
                          <a:effectLst/>
                        </a:rPr>
                        <a:t>/(</a:t>
                      </a:r>
                      <a:r>
                        <a:rPr lang="en-US" sz="800" dirty="0" err="1">
                          <a:effectLst/>
                        </a:rPr>
                        <a:t>rC+rU</a:t>
                      </a:r>
                      <a:r>
                        <a:rPr lang="en-US" sz="800" dirty="0">
                          <a:effectLst/>
                        </a:rPr>
                        <a:t>)</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1</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46.770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err="1">
                          <a:effectLst/>
                        </a:rPr>
                        <a:t>NaN</a:t>
                      </a:r>
                      <a:endParaRPr lang="en-US" sz="800" dirty="0">
                        <a:effectLst/>
                      </a:endParaRP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46.770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err="1">
                          <a:effectLst/>
                        </a:rPr>
                        <a:t>NaN</a:t>
                      </a:r>
                      <a:endParaRPr lang="en-US" sz="800" dirty="0">
                        <a:effectLst/>
                      </a:endParaRP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NA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3838788"/>
                  </a:ext>
                </a:extLst>
              </a:tr>
              <a:tr h="308604">
                <a:tc>
                  <a:txBody>
                    <a:bodyPr/>
                    <a:lstStyle/>
                    <a:p>
                      <a:pPr algn="ctr" fontAlgn="ctr">
                        <a:buNone/>
                      </a:pPr>
                      <a:r>
                        <a:rPr lang="en-US" sz="800">
                          <a:effectLst/>
                        </a:rPr>
                        <a:t>HcDa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0min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rU/(rC+rU)</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58.415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61.640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60.028</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2.280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3.79</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0491014"/>
                  </a:ext>
                </a:extLst>
              </a:tr>
              <a:tr h="308604">
                <a:tc>
                  <a:txBody>
                    <a:bodyPr/>
                    <a:lstStyle/>
                    <a:p>
                      <a:pPr algn="ctr" fontAlgn="ctr">
                        <a:buNone/>
                      </a:pPr>
                      <a:r>
                        <a:rPr lang="en-US" sz="800">
                          <a:effectLst/>
                        </a:rPr>
                        <a:t>HcDa</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5min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rU/(rC+rU)</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59.860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59.735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59.798</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0.088</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0.14</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6879266"/>
                  </a:ext>
                </a:extLst>
              </a:tr>
              <a:tr h="308604">
                <a:tc>
                  <a:txBody>
                    <a:bodyPr/>
                    <a:lstStyle/>
                    <a:p>
                      <a:pPr algn="ctr" fontAlgn="ctr">
                        <a:buNone/>
                      </a:pPr>
                      <a:r>
                        <a:rPr lang="en-US" sz="800" dirty="0" err="1">
                          <a:effectLst/>
                        </a:rPr>
                        <a:t>HcDa</a:t>
                      </a:r>
                      <a:endParaRPr lang="en-US" sz="800" dirty="0">
                        <a:effectLst/>
                      </a:endParaRP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10min</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rU/(rC+rU)</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59.910</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59.495</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59.702</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a:effectLst/>
                        </a:rPr>
                        <a:t>0.293</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800" dirty="0">
                          <a:effectLst/>
                        </a:rPr>
                        <a:t>0.49</a:t>
                      </a:r>
                    </a:p>
                  </a:txBody>
                  <a:tcPr marL="36475" marR="36475" marT="18238" marB="182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7458055"/>
                  </a:ext>
                </a:extLst>
              </a:tr>
            </a:tbl>
          </a:graphicData>
        </a:graphic>
      </p:graphicFrame>
      <p:pic>
        <p:nvPicPr>
          <p:cNvPr id="7" name="Picture 6">
            <a:extLst>
              <a:ext uri="{FF2B5EF4-FFF2-40B4-BE49-F238E27FC236}">
                <a16:creationId xmlns:a16="http://schemas.microsoft.com/office/drawing/2014/main" id="{D9A323A1-E845-CF5C-6D56-F56B88FB23F0}"/>
              </a:ext>
            </a:extLst>
          </p:cNvPr>
          <p:cNvPicPr>
            <a:picLocks noChangeAspect="1"/>
          </p:cNvPicPr>
          <p:nvPr/>
        </p:nvPicPr>
        <p:blipFill>
          <a:blip r:embed="rId2"/>
          <a:stretch>
            <a:fillRect/>
          </a:stretch>
        </p:blipFill>
        <p:spPr>
          <a:xfrm>
            <a:off x="1285786" y="690156"/>
            <a:ext cx="8715821" cy="2760912"/>
          </a:xfrm>
          <a:prstGeom prst="rect">
            <a:avLst/>
          </a:prstGeom>
        </p:spPr>
      </p:pic>
      <p:sp>
        <p:nvSpPr>
          <p:cNvPr id="11" name="TextBox 10">
            <a:extLst>
              <a:ext uri="{FF2B5EF4-FFF2-40B4-BE49-F238E27FC236}">
                <a16:creationId xmlns:a16="http://schemas.microsoft.com/office/drawing/2014/main" id="{90FDA67F-6EDC-611C-3644-3BD811355447}"/>
              </a:ext>
            </a:extLst>
          </p:cNvPr>
          <p:cNvSpPr txBox="1"/>
          <p:nvPr/>
        </p:nvSpPr>
        <p:spPr>
          <a:xfrm>
            <a:off x="10001607" y="2669633"/>
            <a:ext cx="998991" cy="553998"/>
          </a:xfrm>
          <a:prstGeom prst="rect">
            <a:avLst/>
          </a:prstGeom>
          <a:noFill/>
        </p:spPr>
        <p:txBody>
          <a:bodyPr wrap="none" rtlCol="0">
            <a:spAutoFit/>
          </a:bodyPr>
          <a:lstStyle/>
          <a:p>
            <a:r>
              <a:rPr lang="en-US" sz="1000" dirty="0"/>
              <a:t>HP = HPAMPD </a:t>
            </a:r>
          </a:p>
          <a:p>
            <a:r>
              <a:rPr lang="en-US" sz="1000" dirty="0"/>
              <a:t>TA = TadA8r </a:t>
            </a:r>
          </a:p>
          <a:p>
            <a:r>
              <a:rPr lang="en-US" sz="1000" dirty="0" err="1"/>
              <a:t>HcDa</a:t>
            </a:r>
            <a:r>
              <a:rPr lang="en-US" sz="1000" dirty="0"/>
              <a:t> = </a:t>
            </a:r>
            <a:r>
              <a:rPr lang="en-US" sz="1000" dirty="0" err="1"/>
              <a:t>HcDa</a:t>
            </a:r>
            <a:r>
              <a:rPr lang="en-US" sz="1000" dirty="0"/>
              <a:t> </a:t>
            </a:r>
          </a:p>
        </p:txBody>
      </p:sp>
    </p:spTree>
    <p:extLst>
      <p:ext uri="{BB962C8B-B14F-4D97-AF65-F5344CB8AC3E}">
        <p14:creationId xmlns:p14="http://schemas.microsoft.com/office/powerpoint/2010/main" val="1167598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812</TotalTime>
  <Words>1881</Words>
  <Application>Microsoft Macintosh PowerPoint</Application>
  <PresentationFormat>Widescreen</PresentationFormat>
  <Paragraphs>326</Paragraphs>
  <Slides>15</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Aptos Narrow</vt:lpstr>
      <vt:lpstr>Arial</vt:lpstr>
      <vt:lpstr>Office Theme</vt:lpstr>
      <vt:lpstr>How to: Nucleoside Digestion + HPLC vial transfer on the Andrew+</vt:lpstr>
      <vt:lpstr>Automation of Nucleoside Digestion and HPLC Vial Transfer Overview</vt:lpstr>
      <vt:lpstr>Nucleoside Digestion Protocol</vt:lpstr>
      <vt:lpstr>Step1: Prepare the RNA Sample List for Import into the OneLab  Nucleoside Digestion Protocol</vt:lpstr>
      <vt:lpstr>Step2: Open the OneLab Nucleoside Digestion Protocol for Editing</vt:lpstr>
      <vt:lpstr>Step3-4: Setting Initial Reagent and RNA Volumes in Plates + Tubes</vt:lpstr>
      <vt:lpstr>Step5: Edit protocol step 2 “Normalization” for RNA transfer + Dilution with H2O</vt:lpstr>
      <vt:lpstr>Step6-7: Select the target destination wells and volumes for the 10x buffer and NDM </vt:lpstr>
      <vt:lpstr>Step8-10: Double Check everything is correct and run the protocol.</vt:lpstr>
      <vt:lpstr>Transferring Nucleosides from 96 well plate to HPLC vials</vt:lpstr>
      <vt:lpstr>Step1: Open the OneLab Nucleoside Digestion Protocol for Editing</vt:lpstr>
      <vt:lpstr>PowerPoint Presentation</vt:lpstr>
      <vt:lpstr>Step3: Edit Protocol Step 1 “Pipetting” with 96well source wells and destination HPLC vials to be transferred</vt:lpstr>
      <vt:lpstr>Step4: Double Check everything is correct and run the protocol.</vt:lpstr>
      <vt:lpstr>Example Results: Nucleoside digestion of Deamination Reactions.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Szucs, Matthew</dc:creator>
  <cp:lastModifiedBy>Szucs, Matthew</cp:lastModifiedBy>
  <cp:revision>2</cp:revision>
  <dcterms:created xsi:type="dcterms:W3CDTF">2026-10-08T19:17:51Z</dcterms:created>
  <dcterms:modified xsi:type="dcterms:W3CDTF">2026-10-09T08:50:31Z</dcterms:modified>
</cp:coreProperties>
</file>